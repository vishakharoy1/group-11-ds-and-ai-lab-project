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Learning-Based Human Face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Authenticity Detection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Architecture: MobileNetV3-Large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25400">
            <a:solidFill>
              <a:srgbClr val="64B5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3: Architecture Selection, Justification, Baseline Performance,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Tuning, Pipeline &amp; Explainability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Distribution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64792"/>
            <a:ext cx="457200" cy="457200"/>
          </a:xfrm>
          <a:prstGeom prst="ellipse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69164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66160" y="169164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 / Dual-Stream Architecture Development &amp; FFT Forensic Extraction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457200" cy="457200"/>
          </a:xfrm>
          <a:prstGeom prst="ellipse">
            <a:avLst/>
          </a:prstGeom>
          <a:solidFill>
            <a:srgbClr val="8E24A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56032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56032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MobileNetV3-Large Model Development, Training &amp; Testing (Primary Architecture)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57200" cy="457200"/>
          </a:xfrm>
          <a:prstGeom prst="ellipse">
            <a:avLst/>
          </a:prstGeom>
          <a:solidFill>
            <a:srgbClr val="FB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342900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Vishakha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66160" y="342900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EfficientNet-B2 Model Development, Video Pipeline &amp; Grad-CAM Explainability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37083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70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9768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566160" y="429768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Optimization, Evaluation Scripting &amp; Dataloader Hardware Integration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239512"/>
            <a:ext cx="457200" cy="457200"/>
          </a:xfrm>
          <a:prstGeom prst="ellipse">
            <a:avLst/>
          </a:prstGeom>
          <a:solidFill>
            <a:srgbClr val="6D4C4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239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516636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Somendu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566160" y="516636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 / DCT Frequency Analysis, Explainability Heatmaps &amp; Diagram Visualization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MODEL ARCHITECTURE SELECTION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Architectures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6272784" cy="4901184"/>
          </a:xfrm>
          <a:prstGeom prst="roundRect">
            <a:avLst>
              <a:gd name="adj" fmla="val 186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images/model_selection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612648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0" y="1600200"/>
            <a:ext cx="45564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— MobileNetV3-Large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132320" y="2103120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99.96% in-domain accuracy · 4.2M params · SELECTED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132320" y="2706624"/>
            <a:ext cx="45564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8E2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— Dual-Stream Fusion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132320" y="3209544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97.42% accuracy · 40.7M params · Secondary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32320" y="3813048"/>
            <a:ext cx="45564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FB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— EfficientNet-B2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132320" y="4315968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58.33% accuracy (bug-affected) · 7.8M params · Tertiary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MODEL ARCHITECTURE SELECTION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MobileNetV3-Large Is Selected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677863" y="1481328"/>
            <a:ext cx="5084064" cy="4901184"/>
          </a:xfrm>
          <a:prstGeom prst="roundRect">
            <a:avLst>
              <a:gd name="adj" fmla="val 186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chatgpt_gemini_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51015" y="1554480"/>
            <a:ext cx="493776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model tested against unseen ChatGPT / Gemini images — 80% accuracy, zero extra fine-tuning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2203704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fewer parameters than Dual-Stream (4.2M vs 40.7M)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" y="2807208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inference: ~8.2ms/image, ~112 img/sec on one T4 GPU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02920" y="3410712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RGB stream — no FFT or video preprocessing required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4014216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99.96% in-domain accuracy — efficiency is not traded for accuracy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ARCHITECTURE JUSTIFICATION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Design: Why It Fits 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4352544" cy="4992624"/>
          </a:xfrm>
          <a:prstGeom prst="roundRect">
            <a:avLst>
              <a:gd name="adj" fmla="val 210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images/model1_mobilenetv3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420624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0" y="1600200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artifacts are local (texture, blending seams) — not global shape changes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212080" y="2203704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Inverted-residual blocks + squeeze-and-excitation attention target exactly this kind of local signal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212080" y="2807208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pretraining is parameter-efficient on a modest training 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212080" y="3410712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fine-tuning: freeze backbone (3 epochs) -&gt; unfreeze last 25% at 30x lower LR (7 epochs)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212080" y="4014216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the extra frequency-domain machinery Dual-Stream needs to catch the same artifact class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BASELINE MODEL PERFORMANCE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Baseline 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5175504" cy="4901184"/>
          </a:xfrm>
          <a:prstGeom prst="roundRect">
            <a:avLst>
              <a:gd name="adj" fmla="val 186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dataset_si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50292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1600200"/>
            <a:ext cx="5653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dataset: 24,001 images (15,000 Real + 9,001 Fake)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035040" y="2203704"/>
            <a:ext cx="5653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 / 10 / 10 train-val-test split, seed 42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035040" y="2807208"/>
            <a:ext cx="56537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(2,401 images):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310128"/>
            <a:ext cx="5653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99.96%  ·  Loss 0.0011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035040" y="3913632"/>
            <a:ext cx="5653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&amp; Recall ≥ 0.999 on both classes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035040" y="4517136"/>
            <a:ext cx="5653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 misclassification out of 2,401 samples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HYPERPARAMETER TUNING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Tuned — And Why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312103" y="1481328"/>
            <a:ext cx="5449824" cy="4626864"/>
          </a:xfrm>
          <a:prstGeom prst="roundRect">
            <a:avLst>
              <a:gd name="adj" fmla="val 197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hyperparameter_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85255" y="1554480"/>
            <a:ext cx="530352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5379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staged fine-tuning, not a single training run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2203704"/>
            <a:ext cx="5379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hyperparameters searched: freeze ratio, learning rate, epochs, scheduler, optimizer, batch size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" y="2807208"/>
            <a:ext cx="5379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lever: dropping the learning rate 30x between stages — prevents catastrophic forgetting of pretrained filters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02920" y="3410712"/>
            <a:ext cx="5379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validation accuracy 99.75% -&gt; 99.88%, validation loss cut by 60% (0.0103 -&gt; 0.0041)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END-TO-END PIPELINE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MobileNetV3-Large: Primary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4261104" cy="4992624"/>
          </a:xfrm>
          <a:prstGeom prst="roundRect">
            <a:avLst>
              <a:gd name="adj" fmla="val 214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simplified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411480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20640" y="1600200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validate images -&gt; assign Real/Fake labels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120640" y="2203704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224x224, ImageNet normalization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120640" y="2807208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Training-only augmentation: crop, flip, color jitter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120640" y="3410712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-&gt; Global Average Pooling -&gt; classifier head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120640" y="4014216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output: Real/Fake + confidence score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120640" y="4617720"/>
            <a:ext cx="6568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default path for every inference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END-TO-END PIPELINE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&amp; Tertiary Models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 on every request — invoked only when needed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126480" y="14813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Dual-Stream: spectral cross-check when confidence is low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86537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EfficientNet-B2: handles video input + Grad-CAM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86537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evidence back into the final decision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0816" y="2404872"/>
            <a:ext cx="3529584" cy="3895344"/>
          </a:xfrm>
          <a:prstGeom prst="roundRect">
            <a:avLst>
              <a:gd name="adj" fmla="val 259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9" name="Image 0" descr="ppt_images/dualstream_mini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83968" y="2478024"/>
            <a:ext cx="3383280" cy="3749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1296" y="2404872"/>
            <a:ext cx="3529584" cy="3895344"/>
          </a:xfrm>
          <a:prstGeom prst="roundRect">
            <a:avLst>
              <a:gd name="adj" fmla="val 259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11" name="Image 1" descr="ppt_images/efficientnet_mini_flowch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4448" y="2478024"/>
            <a:ext cx="3383280" cy="3749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ARCHITECTURE VISUALIZATION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Pipeline Flowchart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4352544" cy="4992624"/>
          </a:xfrm>
          <a:prstGeom prst="roundRect">
            <a:avLst>
              <a:gd name="adj" fmla="val 210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simplified_unified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420624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0" y="1600200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flowchart, not three — primary model decides by default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212080" y="2203704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MobileNetV3-Large output is the default Real/Fake decision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212080" y="2807208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Secondary/tertiary models only trigger on low confidence or video input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212080" y="3410712"/>
            <a:ext cx="64766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can carry supporting evidence: Grad-CAM heatmap and/or HPF spectrum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ARCHITECTURE VISUALIZATION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What Signals Matter?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94983" y="1481328"/>
            <a:ext cx="5266944" cy="4809744"/>
          </a:xfrm>
          <a:prstGeom prst="roundRect">
            <a:avLst>
              <a:gd name="adj" fmla="val 190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images/explainability_indicator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68135" y="1554480"/>
            <a:ext cx="5120640" cy="4663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55622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/ iris reflections — asymmetry is a common generator tell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2203704"/>
            <a:ext cx="55622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Nose bridge &amp; shading — frequent blending-seam location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" y="2807208"/>
            <a:ext cx="55622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Mouth / teeth boundary — irregular spacing, texture mismatch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02920" y="3410712"/>
            <a:ext cx="55622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texture — over-smoothing, missing pore-level detail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4014216"/>
            <a:ext cx="556229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Hairline / ear geometry — blur or asymmetric shape at crop edge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ARCHITECTURE VISUALIZATION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Grad-CAM: Pixel-Localized Evidence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6547104" cy="3712464"/>
          </a:xfrm>
          <a:prstGeom prst="roundRect">
            <a:avLst>
              <a:gd name="adj" fmla="val 2463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images/gradcam_illustrative_exa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640080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06640" y="1600200"/>
            <a:ext cx="4282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of fake-probability backpropagated to the last conv layer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406640" y="2203704"/>
            <a:ext cx="4282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heatmap of which regions drove the decision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406640" y="2807208"/>
            <a:ext cx="4282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Concentrates on eyes, nose bridge, mouth/teeth boundary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406640" y="3410712"/>
            <a:ext cx="4282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computation, not a heuristic — can surface artifacts we didn't anticipate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406640" y="4014216"/>
            <a:ext cx="42821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the tertiary (EfficientNet-B2) model for human-auditable output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EVIDENCE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to Modern AI Generators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677863" y="1481328"/>
            <a:ext cx="5084064" cy="4901184"/>
          </a:xfrm>
          <a:prstGeom prst="roundRect">
            <a:avLst>
              <a:gd name="adj" fmla="val 1866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chatgpt_gemini_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51015" y="1554480"/>
            <a:ext cx="493776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images never seen during training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2203704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&amp; Gemini image generators — released after the original dataset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" y="2807208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accuracy with zero additional fine-tuning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02920" y="3410712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evidence the model learned generalizable artifacts, not a Stable-Diffusion-specific fingerprint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4014216"/>
            <a:ext cx="574517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reason MobileNetV3-Large is the selected architecture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Comparison — Which Is Better?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6272784" cy="4352544"/>
          </a:xfrm>
          <a:prstGeom prst="roundRect">
            <a:avLst>
              <a:gd name="adj" fmla="val 2101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images/model_comparison_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6126480" cy="4206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0" y="1600200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Highest real-world accuracy — works on images it never trained on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132320" y="2203704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Smallest and fastest — 10x fewer parameters than Dual-Stream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132320" y="2807208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Simplest to run — one image in, one answer out, no extra steps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132320" y="3410712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Cheapest to host — smaller model, lower compute cost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32320" y="4014216"/>
            <a:ext cx="455645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Best overall balance — Dual-Stream and EfficientNet-B2 help only as backup checks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MobileNetV3-Large: Selected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unseen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ChatGPT/Gemini images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20440" y="21031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520440" y="306324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 test accuracy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17920" y="21031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217920" y="306324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— 10x smaller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Dual-Stream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15400" y="21031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8.2ms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915400" y="306324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image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Dual-Stream Fusion (spectral verification)   |   Tertiary: EfficientNet-B2 (video + Grad-CAM)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MobileNetV3-Large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1481328"/>
            <a:ext cx="5907024" cy="4992624"/>
          </a:xfrm>
          <a:prstGeom prst="roundRect">
            <a:avLst>
              <a:gd name="adj" fmla="val 1832"/>
            </a:avLst>
          </a:prstGeom>
          <a:solidFill>
            <a:srgbClr val="F4F6F8"/>
          </a:solidFill>
          <a:ln w="12700">
            <a:solidFill>
              <a:srgbClr val="E0E4E8"/>
            </a:solidFill>
            <a:prstDash val="solid"/>
          </a:ln>
        </p:spPr>
      </p:sp>
      <p:pic>
        <p:nvPicPr>
          <p:cNvPr id="5" name="Image 0" descr="ppt_images/confusion_matrix_explain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54480"/>
            <a:ext cx="5760720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0" y="1600200"/>
            <a:ext cx="49222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2,401 test images — 1,500 Real, 901 Fake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766560" y="2203704"/>
            <a:ext cx="49222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1,499 Real correctly identified, only 1 missed as Fake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0" y="2807208"/>
            <a:ext cx="49222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901 Fake images correctly caught — zero false negatives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766560" y="3410712"/>
            <a:ext cx="49222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 total error out of 2,401 predictions (99.96% accuracy)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766560" y="4014216"/>
            <a:ext cx="49222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negatives matters most: no fake image slips through undetected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Learning-Based Human Face Authenticity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65860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Detection — Milestone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2026-07-21T13:16:03Z</dcterms:created>
  <dcterms:modified xsi:type="dcterms:W3CDTF">2026-07-21T13:16:03Z</dcterms:modified>
</cp:coreProperties>
</file>