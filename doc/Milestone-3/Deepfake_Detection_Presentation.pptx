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PartName="/ppt/slides/slide18.xml" ContentType="application/vnd.openxmlformats-officedocument.presentationml.slide+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73" r:id="rId22"/>
    <p:sldId id="268" r:id="rId17"/>
    <p:sldId id="269" r:id="rId18"/>
    <p:sldId id="270" r:id="rId19"/>
    <p:sldId id="271" r:id="rId20"/>
    <p:sldId id="272" r:id="rId21"/>
  </p:sldIdLst>
  <p:sldSz cy="6858000" cx="12191675"/>
  <p:notesSz cx="6858000" cy="12191675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
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21" Type="http://schemas.openxmlformats.org/officeDocument/2006/relationships/slide" Target="slides/slide17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  <Relationship Id="rId22" Type="http://schemas.openxmlformats.org/officeDocument/2006/relationships/slide" Target="slides/slide18.xml"/>
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" name="Google Shape;2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" name="Google Shape;5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" name="Google Shape;185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1" name="Google Shape;201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7" name="Google Shape;217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3" name="Google Shape;233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9" name="Google Shape;249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7" name="Google Shape;267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3" name="Google Shape;283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Relationship Id="rId4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F3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822960" y="210312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CAF9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90CAF9"/>
                </a:solidFill>
                <a:latin typeface="Calibri"/>
                <a:ea typeface="Calibri"/>
                <a:cs typeface="Calibri"/>
                <a:sym typeface="Calibri"/>
              </a:rPr>
              <a:t>DEEPFAKE DETECTION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822960" y="2514600"/>
            <a:ext cx="1051560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Deep Learning-Based Human Face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Authenticity Detection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822960" y="4160520"/>
            <a:ext cx="10515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B5F6"/>
              </a:buClr>
              <a:buSzPts val="2000"/>
              <a:buFont typeface="Calibri"/>
              <a:buNone/>
            </a:pPr>
            <a:r>
              <a:rPr b="0" i="1" lang="en-US" sz="2000" u="none" cap="none" strike="noStrike">
                <a:solidFill>
                  <a:srgbClr val="64B5F6"/>
                </a:solidFill>
                <a:latin typeface="Calibri"/>
                <a:ea typeface="Calibri"/>
                <a:cs typeface="Calibri"/>
                <a:sym typeface="Calibri"/>
              </a:rPr>
              <a:t>Selected Architecture: MobileNetV3-Large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" name="Google Shape;20;p3"/>
          <p:cNvCxnSpPr/>
          <p:nvPr/>
        </p:nvCxnSpPr>
        <p:spPr>
          <a:xfrm>
            <a:off x="822960" y="4892040"/>
            <a:ext cx="2011680" cy="0"/>
          </a:xfrm>
          <a:prstGeom prst="straightConnector1">
            <a:avLst/>
          </a:prstGeom>
          <a:noFill/>
          <a:ln cap="flat" cmpd="sng" w="25400">
            <a:solidFill>
              <a:srgbClr val="64B5F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" name="Google Shape;21;p3"/>
          <p:cNvSpPr/>
          <p:nvPr/>
        </p:nvSpPr>
        <p:spPr>
          <a:xfrm>
            <a:off x="822960" y="5074920"/>
            <a:ext cx="9601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Milestone 3: Architecture Selection, Justification, Baseline Performance,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Hyperparameter Tuning, Pipeline &amp; Explainability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11658600" y="649224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502920" y="649224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7D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07D8B"/>
                </a:solidFill>
                <a:latin typeface="Calibri"/>
                <a:ea typeface="Calibri"/>
                <a:cs typeface="Calibri"/>
                <a:sym typeface="Calibri"/>
              </a:rPr>
              <a:t>Deepfake Detection — Milestone 3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/>
          <p:nvPr/>
        </p:nvSpPr>
        <p:spPr>
          <a:xfrm>
            <a:off x="502920" y="36576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47A1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D47A1"/>
                </a:solidFill>
                <a:latin typeface="Calibri"/>
                <a:ea typeface="Calibri"/>
                <a:cs typeface="Calibri"/>
                <a:sym typeface="Calibri"/>
              </a:rPr>
              <a:t>TEAM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502920" y="658368"/>
            <a:ext cx="111556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Task Distribution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640080" y="1764792"/>
            <a:ext cx="457200" cy="457200"/>
          </a:xfrm>
          <a:prstGeom prst="ellipse">
            <a:avLst/>
          </a:prstGeom>
          <a:solidFill>
            <a:srgbClr val="0D47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4"/>
          <p:cNvSpPr/>
          <p:nvPr/>
        </p:nvSpPr>
        <p:spPr>
          <a:xfrm>
            <a:off x="640080" y="176479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1325880" y="1691640"/>
            <a:ext cx="210312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Rohit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3566160" y="1691640"/>
            <a:ext cx="813816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7D8B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607D8B"/>
                </a:solidFill>
                <a:latin typeface="Calibri"/>
                <a:ea typeface="Calibri"/>
                <a:cs typeface="Calibri"/>
                <a:sym typeface="Calibri"/>
              </a:rPr>
              <a:t>ConvNeXt / Dual-Stream Architecture Development &amp; FFT Forensic Extraction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640080" y="2633472"/>
            <a:ext cx="457200" cy="457200"/>
          </a:xfrm>
          <a:prstGeom prst="ellipse">
            <a:avLst/>
          </a:prstGeom>
          <a:solidFill>
            <a:srgbClr val="8E24A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4"/>
          <p:cNvSpPr/>
          <p:nvPr/>
        </p:nvSpPr>
        <p:spPr>
          <a:xfrm>
            <a:off x="640080" y="263347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1325880" y="2560320"/>
            <a:ext cx="210312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Raunak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3566160" y="2560320"/>
            <a:ext cx="813816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7D8B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607D8B"/>
                </a:solidFill>
                <a:latin typeface="Calibri"/>
                <a:ea typeface="Calibri"/>
                <a:cs typeface="Calibri"/>
                <a:sym typeface="Calibri"/>
              </a:rPr>
              <a:t>MobileNetV3-Large Model Development, Training &amp; Testing (Primary Architecture)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640080" y="3502152"/>
            <a:ext cx="457200" cy="457200"/>
          </a:xfrm>
          <a:prstGeom prst="ellipse">
            <a:avLst/>
          </a:prstGeom>
          <a:solidFill>
            <a:srgbClr val="FB8C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4"/>
          <p:cNvSpPr/>
          <p:nvPr/>
        </p:nvSpPr>
        <p:spPr>
          <a:xfrm>
            <a:off x="640080" y="350215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1325880" y="3429000"/>
            <a:ext cx="210312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Vishakha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3566160" y="3429000"/>
            <a:ext cx="813816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7D8B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607D8B"/>
                </a:solidFill>
                <a:latin typeface="Calibri"/>
                <a:ea typeface="Calibri"/>
                <a:cs typeface="Calibri"/>
                <a:sym typeface="Calibri"/>
              </a:rPr>
              <a:t>EfficientNet-B2 Model Development, Video Pipeline &amp; Grad-CAM Explainability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640080" y="4370832"/>
            <a:ext cx="457200" cy="4572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4"/>
          <p:cNvSpPr/>
          <p:nvPr/>
        </p:nvSpPr>
        <p:spPr>
          <a:xfrm>
            <a:off x="640080" y="437083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1325880" y="4297680"/>
            <a:ext cx="210312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Aman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3566160" y="4297680"/>
            <a:ext cx="813816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7D8B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607D8B"/>
                </a:solidFill>
                <a:latin typeface="Calibri"/>
                <a:ea typeface="Calibri"/>
                <a:cs typeface="Calibri"/>
                <a:sym typeface="Calibri"/>
              </a:rPr>
              <a:t>Pipeline Optimization, Evaluation Scripting &amp; Dataloader Hardware Integration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640080" y="5239512"/>
            <a:ext cx="457200" cy="457200"/>
          </a:xfrm>
          <a:prstGeom prst="ellipse">
            <a:avLst/>
          </a:prstGeom>
          <a:solidFill>
            <a:srgbClr val="6D4C4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4"/>
          <p:cNvSpPr/>
          <p:nvPr/>
        </p:nvSpPr>
        <p:spPr>
          <a:xfrm>
            <a:off x="640080" y="523951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1325880" y="5166360"/>
            <a:ext cx="210312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Somendu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3566160" y="5166360"/>
            <a:ext cx="813816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7D8B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607D8B"/>
                </a:solidFill>
                <a:latin typeface="Calibri"/>
                <a:ea typeface="Calibri"/>
                <a:cs typeface="Calibri"/>
                <a:sym typeface="Calibri"/>
              </a:rPr>
              <a:t>FFT / DCT Frequency Analysis, Explainability Heatmaps &amp; Diagram Visualization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11658600" y="649224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07D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07D8B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502920" y="649224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7D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07D8B"/>
                </a:solidFill>
                <a:latin typeface="Calibri"/>
                <a:ea typeface="Calibri"/>
                <a:cs typeface="Calibri"/>
                <a:sym typeface="Calibri"/>
              </a:rPr>
              <a:t>Deepfake Detection — Milestone 3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5"/>
          <p:cNvSpPr/>
          <p:nvPr/>
        </p:nvSpPr>
        <p:spPr>
          <a:xfrm>
            <a:off x="502920" y="36576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47A1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D47A1"/>
                </a:solidFill>
                <a:latin typeface="Calibri"/>
                <a:ea typeface="Calibri"/>
                <a:cs typeface="Calibri"/>
                <a:sym typeface="Calibri"/>
              </a:rPr>
              <a:t>SECTION 1 · MODEL ARCHITECTURE SELECTION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502920" y="658368"/>
            <a:ext cx="111556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Three Candidate Architectures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429768" y="1481328"/>
            <a:ext cx="6272784" cy="4901184"/>
          </a:xfrm>
          <a:prstGeom prst="roundRect">
            <a:avLst>
              <a:gd fmla="val 1866" name="adj"/>
            </a:avLst>
          </a:prstGeom>
          <a:solidFill>
            <a:srgbClr val="F4F6F8"/>
          </a:solidFill>
          <a:ln cap="flat" cmpd="sng" w="12700">
            <a:solidFill>
              <a:srgbClr val="E0E4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mages/model_selection_comparison.png" id="61" name="Google Shape;6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1554480"/>
            <a:ext cx="6126480" cy="475488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5"/>
          <p:cNvSpPr/>
          <p:nvPr/>
        </p:nvSpPr>
        <p:spPr>
          <a:xfrm>
            <a:off x="7132320" y="1600200"/>
            <a:ext cx="455645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D47A1"/>
              </a:buClr>
              <a:buSzPts val="1550"/>
              <a:buFont typeface="Calibri"/>
              <a:buNone/>
            </a:pPr>
            <a:r>
              <a:rPr b="1" i="0" lang="en-US" sz="1550" u="none" cap="none" strike="noStrike">
                <a:solidFill>
                  <a:srgbClr val="0D47A1"/>
                </a:solidFill>
                <a:latin typeface="Calibri"/>
                <a:ea typeface="Calibri"/>
                <a:cs typeface="Calibri"/>
                <a:sym typeface="Calibri"/>
              </a:rPr>
              <a:t>Model 1 — MobileNetV3-Large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7132320" y="2103120"/>
            <a:ext cx="4556455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7800" lvl="0" marL="1778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50"/>
              <a:buFont typeface="Calibri"/>
              <a:buChar char="•"/>
            </a:pPr>
            <a:r>
              <a:rPr b="0" i="0" lang="en-US" sz="14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99.96% in-domain accuracy · 4.2M params · SELECTED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7132320" y="2706624"/>
            <a:ext cx="455645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8E24AA"/>
              </a:buClr>
              <a:buSzPts val="1550"/>
              <a:buFont typeface="Calibri"/>
              <a:buNone/>
            </a:pPr>
            <a:r>
              <a:rPr b="1" i="0" lang="en-US" sz="1550" u="none" cap="none" strike="noStrike">
                <a:solidFill>
                  <a:srgbClr val="8E24AA"/>
                </a:solidFill>
                <a:latin typeface="Calibri"/>
                <a:ea typeface="Calibri"/>
                <a:cs typeface="Calibri"/>
                <a:sym typeface="Calibri"/>
              </a:rPr>
              <a:t>Model 2 — Dual-Stream Fusion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7132320" y="3209544"/>
            <a:ext cx="4556455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7800" lvl="0" marL="1778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50"/>
              <a:buFont typeface="Calibri"/>
              <a:buChar char="•"/>
            </a:pPr>
            <a:r>
              <a:rPr b="0" i="0" lang="en-US" sz="14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97.42% accuracy · 40.7M params · Secondary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7132320" y="3813048"/>
            <a:ext cx="455645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B8C00"/>
              </a:buClr>
              <a:buSzPts val="1550"/>
              <a:buFont typeface="Calibri"/>
              <a:buNone/>
            </a:pPr>
            <a:r>
              <a:rPr b="1" i="0" lang="en-US" sz="1550" u="none" cap="none" strike="noStrike">
                <a:solidFill>
                  <a:srgbClr val="FB8C00"/>
                </a:solidFill>
                <a:latin typeface="Calibri"/>
                <a:ea typeface="Calibri"/>
                <a:cs typeface="Calibri"/>
                <a:sym typeface="Calibri"/>
              </a:rPr>
              <a:t>Model 3 — EfficientNet-B2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7132320" y="4315968"/>
            <a:ext cx="4556455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7800" lvl="0" marL="1778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50"/>
              <a:buFont typeface="Calibri"/>
              <a:buChar char="•"/>
            </a:pPr>
            <a:r>
              <a:rPr b="0" i="0" lang="en-US" sz="14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58.33% accuracy (bug-affected) · 7.8M params · Tertiary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11658600" y="649224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07D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07D8B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502920" y="649224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7D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07D8B"/>
                </a:solidFill>
                <a:latin typeface="Calibri"/>
                <a:ea typeface="Calibri"/>
                <a:cs typeface="Calibri"/>
                <a:sym typeface="Calibri"/>
              </a:rPr>
              <a:t>Deepfake Detection — Milestone 3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6"/>
          <p:cNvSpPr/>
          <p:nvPr/>
        </p:nvSpPr>
        <p:spPr>
          <a:xfrm>
            <a:off x="502920" y="36576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47A1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D47A1"/>
                </a:solidFill>
                <a:latin typeface="Calibri"/>
                <a:ea typeface="Calibri"/>
                <a:cs typeface="Calibri"/>
                <a:sym typeface="Calibri"/>
              </a:rPr>
              <a:t>SECTION 1 · MODEL ARCHITECTURE SELECTION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6"/>
          <p:cNvSpPr/>
          <p:nvPr/>
        </p:nvSpPr>
        <p:spPr>
          <a:xfrm>
            <a:off x="502920" y="658368"/>
            <a:ext cx="111556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Why MobileNetV3-Large Is Selected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6"/>
          <p:cNvSpPr/>
          <p:nvPr/>
        </p:nvSpPr>
        <p:spPr>
          <a:xfrm>
            <a:off x="6677863" y="1481328"/>
            <a:ext cx="5084064" cy="4901184"/>
          </a:xfrm>
          <a:prstGeom prst="roundRect">
            <a:avLst>
              <a:gd fmla="val 1866" name="adj"/>
            </a:avLst>
          </a:prstGeom>
          <a:solidFill>
            <a:srgbClr val="F4F6F8"/>
          </a:solidFill>
          <a:ln cap="flat" cmpd="sng" w="12700">
            <a:solidFill>
              <a:srgbClr val="E0E4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pt_images/chatgpt_gemini_chart.png" id="78" name="Google Shape;7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51015" y="1554480"/>
            <a:ext cx="4937760" cy="475488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6"/>
          <p:cNvSpPr/>
          <p:nvPr/>
        </p:nvSpPr>
        <p:spPr>
          <a:xfrm>
            <a:off x="502920" y="1600200"/>
            <a:ext cx="5745175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7800" lvl="0" marL="1778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50"/>
              <a:buFont typeface="Calibri"/>
              <a:buChar char="•"/>
            </a:pPr>
            <a:r>
              <a:rPr b="0" i="0" lang="en-US" sz="14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Only model tested against unseen ChatGPT / Gemini images — 80% accuracy, zero extra fine-tuning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6"/>
          <p:cNvSpPr/>
          <p:nvPr/>
        </p:nvSpPr>
        <p:spPr>
          <a:xfrm>
            <a:off x="502920" y="2203704"/>
            <a:ext cx="5745175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7800" lvl="0" marL="1778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50"/>
              <a:buFont typeface="Calibri"/>
              <a:buChar char="•"/>
            </a:pPr>
            <a:r>
              <a:rPr b="0" i="0" lang="en-US" sz="14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10x fewer parameters than Dual-Stream (4.2M vs 40.7M)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6"/>
          <p:cNvSpPr/>
          <p:nvPr/>
        </p:nvSpPr>
        <p:spPr>
          <a:xfrm>
            <a:off x="502920" y="2807208"/>
            <a:ext cx="5745175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7800" lvl="0" marL="1778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50"/>
              <a:buFont typeface="Calibri"/>
              <a:buChar char="•"/>
            </a:pPr>
            <a:r>
              <a:rPr b="0" i="0" lang="en-US" sz="14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Real-time inference: ~8.2ms/image, ~112 img/sec on one T4 GPU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6"/>
          <p:cNvSpPr/>
          <p:nvPr/>
        </p:nvSpPr>
        <p:spPr>
          <a:xfrm>
            <a:off x="502920" y="3410712"/>
            <a:ext cx="5745175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7800" lvl="0" marL="1778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50"/>
              <a:buFont typeface="Calibri"/>
              <a:buChar char="•"/>
            </a:pPr>
            <a:r>
              <a:rPr b="0" i="0" lang="en-US" sz="14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Single RGB stream — no FFT or video preprocessing required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6"/>
          <p:cNvSpPr/>
          <p:nvPr/>
        </p:nvSpPr>
        <p:spPr>
          <a:xfrm>
            <a:off x="502920" y="4014216"/>
            <a:ext cx="5745175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7800" lvl="0" marL="1778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50"/>
              <a:buFont typeface="Calibri"/>
              <a:buChar char="•"/>
            </a:pPr>
            <a:r>
              <a:rPr b="0" i="0" lang="en-US" sz="14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99.96% in-domain accuracy — efficiency is not traded for accuracy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6"/>
          <p:cNvSpPr/>
          <p:nvPr/>
        </p:nvSpPr>
        <p:spPr>
          <a:xfrm>
            <a:off x="11658600" y="649224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07D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07D8B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6"/>
          <p:cNvSpPr/>
          <p:nvPr/>
        </p:nvSpPr>
        <p:spPr>
          <a:xfrm>
            <a:off x="502920" y="649224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7D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07D8B"/>
                </a:solidFill>
                <a:latin typeface="Calibri"/>
                <a:ea typeface="Calibri"/>
                <a:cs typeface="Calibri"/>
                <a:sym typeface="Calibri"/>
              </a:rPr>
              <a:t>Deepfake Detection — Milestone 3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7"/>
          <p:cNvSpPr/>
          <p:nvPr/>
        </p:nvSpPr>
        <p:spPr>
          <a:xfrm>
            <a:off x="502920" y="36576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47A1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D47A1"/>
                </a:solidFill>
                <a:latin typeface="Calibri"/>
                <a:ea typeface="Calibri"/>
                <a:cs typeface="Calibri"/>
                <a:sym typeface="Calibri"/>
              </a:rPr>
              <a:t>SECTION 2 · ARCHITECTURE JUSTIFICATION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7"/>
          <p:cNvSpPr/>
          <p:nvPr/>
        </p:nvSpPr>
        <p:spPr>
          <a:xfrm>
            <a:off x="502920" y="658368"/>
            <a:ext cx="111556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Technical Design: Why It Fits the Problem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7"/>
          <p:cNvSpPr/>
          <p:nvPr/>
        </p:nvSpPr>
        <p:spPr>
          <a:xfrm>
            <a:off x="7748425" y="-9150"/>
            <a:ext cx="4468200" cy="6858000"/>
          </a:xfrm>
          <a:prstGeom prst="roundRect">
            <a:avLst>
              <a:gd fmla="val 2101" name="adj"/>
            </a:avLst>
          </a:prstGeom>
          <a:solidFill>
            <a:srgbClr val="F4F6F8"/>
          </a:solidFill>
          <a:ln cap="flat" cmpd="sng" w="12700">
            <a:solidFill>
              <a:srgbClr val="E0E4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7"/>
          <p:cNvSpPr/>
          <p:nvPr/>
        </p:nvSpPr>
        <p:spPr>
          <a:xfrm>
            <a:off x="618730" y="1482675"/>
            <a:ext cx="64767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7800" lvl="0" marL="1778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50"/>
              <a:buFont typeface="Calibri"/>
              <a:buChar char="•"/>
            </a:pPr>
            <a:r>
              <a:rPr b="0" i="0" lang="en-US" sz="14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Deepfake artifacts are local (texture, blending seams) — not global shape changes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7"/>
          <p:cNvSpPr/>
          <p:nvPr/>
        </p:nvSpPr>
        <p:spPr>
          <a:xfrm>
            <a:off x="618730" y="2086179"/>
            <a:ext cx="64767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7800" lvl="0" marL="1778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50"/>
              <a:buFont typeface="Calibri"/>
              <a:buChar char="•"/>
            </a:pPr>
            <a:r>
              <a:rPr b="0" i="0" lang="en-US" sz="14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Inverted-residual blocks + squeeze-and-excitation attention target exactly this kind of local signal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7"/>
          <p:cNvSpPr/>
          <p:nvPr/>
        </p:nvSpPr>
        <p:spPr>
          <a:xfrm>
            <a:off x="618730" y="2689683"/>
            <a:ext cx="64767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7800" lvl="0" marL="1778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50"/>
              <a:buFont typeface="Calibri"/>
              <a:buChar char="•"/>
            </a:pPr>
            <a:r>
              <a:rPr b="0" i="0" lang="en-US" sz="14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ImageNet pretraining is parameter-efficient on a modest training set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7"/>
          <p:cNvSpPr/>
          <p:nvPr/>
        </p:nvSpPr>
        <p:spPr>
          <a:xfrm>
            <a:off x="618730" y="3293187"/>
            <a:ext cx="64767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7800" lvl="0" marL="1778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50"/>
              <a:buFont typeface="Calibri"/>
              <a:buChar char="•"/>
            </a:pPr>
            <a:r>
              <a:rPr b="0" i="0" lang="en-US" sz="14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Staged fine-tuning: freeze backbone (3 epochs) -&gt; unfreeze last 25% at 30x lower LR (7 epochs)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7"/>
          <p:cNvSpPr/>
          <p:nvPr/>
        </p:nvSpPr>
        <p:spPr>
          <a:xfrm>
            <a:off x="618730" y="3896691"/>
            <a:ext cx="64767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7800" lvl="0" marL="1778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50"/>
              <a:buFont typeface="Calibri"/>
              <a:buChar char="•"/>
            </a:pPr>
            <a:r>
              <a:rPr b="0" i="0" lang="en-US" sz="14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Avoids the extra frequency-domain machinery Dual-Stream needs to catch the same artifact class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7"/>
          <p:cNvSpPr/>
          <p:nvPr/>
        </p:nvSpPr>
        <p:spPr>
          <a:xfrm>
            <a:off x="11658600" y="649224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07D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07D8B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7"/>
          <p:cNvSpPr/>
          <p:nvPr/>
        </p:nvSpPr>
        <p:spPr>
          <a:xfrm>
            <a:off x="502920" y="649224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7D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07D8B"/>
                </a:solidFill>
                <a:latin typeface="Calibri"/>
                <a:ea typeface="Calibri"/>
                <a:cs typeface="Calibri"/>
                <a:sym typeface="Calibri"/>
              </a:rPr>
              <a:t>Deepfake Detection — Milestone 3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1" name="Google Shape;101;p7" title="mobilenetv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64175" y="13"/>
            <a:ext cx="4186324" cy="68579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8"/>
          <p:cNvSpPr/>
          <p:nvPr/>
        </p:nvSpPr>
        <p:spPr>
          <a:xfrm>
            <a:off x="502920" y="36576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47A1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D47A1"/>
                </a:solidFill>
                <a:latin typeface="Calibri"/>
                <a:ea typeface="Calibri"/>
                <a:cs typeface="Calibri"/>
                <a:sym typeface="Calibri"/>
              </a:rPr>
              <a:t>SECTION 3 · BASELINE MODEL PERFORMANCE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8"/>
          <p:cNvSpPr/>
          <p:nvPr/>
        </p:nvSpPr>
        <p:spPr>
          <a:xfrm>
            <a:off x="502920" y="658368"/>
            <a:ext cx="111556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Dataset &amp; Baseline Results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8"/>
          <p:cNvSpPr/>
          <p:nvPr/>
        </p:nvSpPr>
        <p:spPr>
          <a:xfrm>
            <a:off x="429768" y="1481328"/>
            <a:ext cx="5175504" cy="4901184"/>
          </a:xfrm>
          <a:prstGeom prst="roundRect">
            <a:avLst>
              <a:gd fmla="val 1866" name="adj"/>
            </a:avLst>
          </a:prstGeom>
          <a:solidFill>
            <a:srgbClr val="F4F6F8"/>
          </a:solidFill>
          <a:ln cap="flat" cmpd="sng" w="12700">
            <a:solidFill>
              <a:srgbClr val="E0E4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pt_images/dataset_simple.png" id="110" name="Google Shape;11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1554480"/>
            <a:ext cx="5029200" cy="475488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8"/>
          <p:cNvSpPr/>
          <p:nvPr/>
        </p:nvSpPr>
        <p:spPr>
          <a:xfrm>
            <a:off x="6035040" y="1600200"/>
            <a:ext cx="5653735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7800" lvl="0" marL="1778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50"/>
              <a:buFont typeface="Calibri"/>
              <a:buChar char="•"/>
            </a:pPr>
            <a:r>
              <a:rPr b="0" i="0" lang="en-US" sz="14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Candidate dataset: 24,001 images (15,000 Real + 9,001 Fake)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8"/>
          <p:cNvSpPr/>
          <p:nvPr/>
        </p:nvSpPr>
        <p:spPr>
          <a:xfrm>
            <a:off x="6035040" y="2203704"/>
            <a:ext cx="5653735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7800" lvl="0" marL="1778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50"/>
              <a:buFont typeface="Calibri"/>
              <a:buChar char="•"/>
            </a:pPr>
            <a:r>
              <a:rPr b="0" i="0" lang="en-US" sz="14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Stratified 80 / 10 / 10 train-val-test split, seed 42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8"/>
          <p:cNvSpPr/>
          <p:nvPr/>
        </p:nvSpPr>
        <p:spPr>
          <a:xfrm>
            <a:off x="6035040" y="2807208"/>
            <a:ext cx="565373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D47A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D47A1"/>
                </a:solidFill>
                <a:latin typeface="Calibri"/>
                <a:ea typeface="Calibri"/>
                <a:cs typeface="Calibri"/>
                <a:sym typeface="Calibri"/>
              </a:rPr>
              <a:t>Test results (2,401 images):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8"/>
          <p:cNvSpPr/>
          <p:nvPr/>
        </p:nvSpPr>
        <p:spPr>
          <a:xfrm>
            <a:off x="6035040" y="3310128"/>
            <a:ext cx="5653735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7800" lvl="0" marL="1778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50"/>
              <a:buFont typeface="Calibri"/>
              <a:buChar char="•"/>
            </a:pPr>
            <a:r>
              <a:rPr b="0" i="0" lang="en-US" sz="14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Accuracy 99.96%  ·  Loss 0.0011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8"/>
          <p:cNvSpPr/>
          <p:nvPr/>
        </p:nvSpPr>
        <p:spPr>
          <a:xfrm>
            <a:off x="6035040" y="3913632"/>
            <a:ext cx="5653735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7800" lvl="0" marL="1778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50"/>
              <a:buFont typeface="Calibri"/>
              <a:buChar char="•"/>
            </a:pPr>
            <a:r>
              <a:rPr b="0" i="0" lang="en-US" sz="14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Precision &amp; Recall ≥ 0.999 on both classes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8"/>
          <p:cNvSpPr/>
          <p:nvPr/>
        </p:nvSpPr>
        <p:spPr>
          <a:xfrm>
            <a:off x="6035040" y="4517136"/>
            <a:ext cx="5653735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7800" lvl="0" marL="1778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50"/>
              <a:buFont typeface="Calibri"/>
              <a:buChar char="•"/>
            </a:pPr>
            <a:r>
              <a:rPr b="0" i="0" lang="en-US" sz="14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Only 1 misclassification out of 2,401 samples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8"/>
          <p:cNvSpPr/>
          <p:nvPr/>
        </p:nvSpPr>
        <p:spPr>
          <a:xfrm>
            <a:off x="11658600" y="649224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07D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07D8B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8"/>
          <p:cNvSpPr/>
          <p:nvPr/>
        </p:nvSpPr>
        <p:spPr>
          <a:xfrm>
            <a:off x="502920" y="649224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7D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07D8B"/>
                </a:solidFill>
                <a:latin typeface="Calibri"/>
                <a:ea typeface="Calibri"/>
                <a:cs typeface="Calibri"/>
                <a:sym typeface="Calibri"/>
              </a:rPr>
              <a:t>Deepfake Detection — Milestone 3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9"/>
          <p:cNvSpPr/>
          <p:nvPr/>
        </p:nvSpPr>
        <p:spPr>
          <a:xfrm>
            <a:off x="502920" y="36576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47A1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D47A1"/>
                </a:solidFill>
                <a:latin typeface="Calibri"/>
                <a:ea typeface="Calibri"/>
                <a:cs typeface="Calibri"/>
                <a:sym typeface="Calibri"/>
              </a:rPr>
              <a:t>SECTION 4 · HYPERPARAMETER TUNING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9"/>
          <p:cNvSpPr/>
          <p:nvPr/>
        </p:nvSpPr>
        <p:spPr>
          <a:xfrm>
            <a:off x="502920" y="658368"/>
            <a:ext cx="111556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What We Tuned — And Why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9"/>
          <p:cNvSpPr/>
          <p:nvPr/>
        </p:nvSpPr>
        <p:spPr>
          <a:xfrm>
            <a:off x="6312103" y="1481328"/>
            <a:ext cx="5449824" cy="4626864"/>
          </a:xfrm>
          <a:prstGeom prst="roundRect">
            <a:avLst>
              <a:gd fmla="val 1976" name="adj"/>
            </a:avLst>
          </a:prstGeom>
          <a:solidFill>
            <a:srgbClr val="F4F6F8"/>
          </a:solidFill>
          <a:ln cap="flat" cmpd="sng" w="12700">
            <a:solidFill>
              <a:srgbClr val="E0E4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pt_images/hyperparameter_table.png" id="127" name="Google Shape;12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5255" y="1554480"/>
            <a:ext cx="5303520" cy="448056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9"/>
          <p:cNvSpPr/>
          <p:nvPr/>
        </p:nvSpPr>
        <p:spPr>
          <a:xfrm>
            <a:off x="502920" y="1600200"/>
            <a:ext cx="5379415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7800" lvl="0" marL="1778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50"/>
              <a:buFont typeface="Calibri"/>
              <a:buChar char="•"/>
            </a:pPr>
            <a:r>
              <a:rPr b="0" i="0" lang="en-US" sz="14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Two-stage staged fine-tuning, not a single training run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9"/>
          <p:cNvSpPr/>
          <p:nvPr/>
        </p:nvSpPr>
        <p:spPr>
          <a:xfrm>
            <a:off x="502920" y="2203704"/>
            <a:ext cx="5379415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7800" lvl="0" marL="1778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50"/>
              <a:buFont typeface="Calibri"/>
              <a:buChar char="•"/>
            </a:pPr>
            <a:r>
              <a:rPr b="0" i="0" lang="en-US" sz="14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6 hyperparameters searched: freeze ratio, learning rate, epochs, scheduler, optimizer, batch size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9"/>
          <p:cNvSpPr/>
          <p:nvPr/>
        </p:nvSpPr>
        <p:spPr>
          <a:xfrm>
            <a:off x="502920" y="2807208"/>
            <a:ext cx="5379415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7800" lvl="0" marL="1778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50"/>
              <a:buFont typeface="Calibri"/>
              <a:buChar char="•"/>
            </a:pPr>
            <a:r>
              <a:rPr b="0" i="0" lang="en-US" sz="14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Biggest lever: dropping the learning rate 30x between stages — prevents catastrophic forgetting of pretrained filters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9"/>
          <p:cNvSpPr/>
          <p:nvPr/>
        </p:nvSpPr>
        <p:spPr>
          <a:xfrm>
            <a:off x="502920" y="3410712"/>
            <a:ext cx="5379415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7800" lvl="0" marL="1778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50"/>
              <a:buFont typeface="Calibri"/>
              <a:buChar char="•"/>
            </a:pPr>
            <a:r>
              <a:rPr b="0" i="0" lang="en-US" sz="14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Result: validation accuracy 99.75% -&gt; 99.88%, validation loss cut by 60% (0.0103 -&gt; 0.0041)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9"/>
          <p:cNvSpPr/>
          <p:nvPr/>
        </p:nvSpPr>
        <p:spPr>
          <a:xfrm>
            <a:off x="11658600" y="649224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07D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07D8B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9"/>
          <p:cNvSpPr/>
          <p:nvPr/>
        </p:nvSpPr>
        <p:spPr>
          <a:xfrm>
            <a:off x="502920" y="649224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7D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07D8B"/>
                </a:solidFill>
                <a:latin typeface="Calibri"/>
                <a:ea typeface="Calibri"/>
                <a:cs typeface="Calibri"/>
                <a:sym typeface="Calibri"/>
              </a:rPr>
              <a:t>Deepfake Detection — Milestone 3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0"/>
          <p:cNvSpPr/>
          <p:nvPr/>
        </p:nvSpPr>
        <p:spPr>
          <a:xfrm>
            <a:off x="502920" y="36576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47A1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D47A1"/>
                </a:solidFill>
                <a:latin typeface="Calibri"/>
                <a:ea typeface="Calibri"/>
                <a:cs typeface="Calibri"/>
                <a:sym typeface="Calibri"/>
              </a:rPr>
              <a:t>SECTION 5 · END-TO-END PIPELINE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0"/>
          <p:cNvSpPr/>
          <p:nvPr/>
        </p:nvSpPr>
        <p:spPr>
          <a:xfrm>
            <a:off x="502920" y="658368"/>
            <a:ext cx="111556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MobileNetV3-Large: Primary Pipeline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0"/>
          <p:cNvSpPr/>
          <p:nvPr/>
        </p:nvSpPr>
        <p:spPr>
          <a:xfrm>
            <a:off x="429768" y="1481328"/>
            <a:ext cx="4261104" cy="4992624"/>
          </a:xfrm>
          <a:prstGeom prst="roundRect">
            <a:avLst>
              <a:gd fmla="val 2146" name="adj"/>
            </a:avLst>
          </a:prstGeom>
          <a:solidFill>
            <a:srgbClr val="F4F6F8"/>
          </a:solidFill>
          <a:ln cap="flat" cmpd="sng" w="12700">
            <a:solidFill>
              <a:srgbClr val="E0E4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pt_images/simplified_pipeline.png" id="142" name="Google Shape;14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1554480"/>
            <a:ext cx="4114800" cy="484632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0"/>
          <p:cNvSpPr/>
          <p:nvPr/>
        </p:nvSpPr>
        <p:spPr>
          <a:xfrm>
            <a:off x="5120640" y="1600200"/>
            <a:ext cx="6568135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7800" lvl="0" marL="1778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50"/>
              <a:buFont typeface="Calibri"/>
              <a:buChar char="•"/>
            </a:pPr>
            <a:r>
              <a:rPr b="0" i="0" lang="en-US" sz="14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Ingest &amp; validate images -&gt; assign Real/Fake labels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0"/>
          <p:cNvSpPr/>
          <p:nvPr/>
        </p:nvSpPr>
        <p:spPr>
          <a:xfrm>
            <a:off x="5120640" y="2203704"/>
            <a:ext cx="6568135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7800" lvl="0" marL="1778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50"/>
              <a:buFont typeface="Calibri"/>
              <a:buChar char="•"/>
            </a:pPr>
            <a:r>
              <a:rPr b="0" i="0" lang="en-US" sz="14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Resize to 224x224, ImageNet normalization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0"/>
          <p:cNvSpPr/>
          <p:nvPr/>
        </p:nvSpPr>
        <p:spPr>
          <a:xfrm>
            <a:off x="5120640" y="2807208"/>
            <a:ext cx="6568135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7800" lvl="0" marL="1778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50"/>
              <a:buFont typeface="Calibri"/>
              <a:buChar char="•"/>
            </a:pPr>
            <a:r>
              <a:rPr b="0" i="0" lang="en-US" sz="14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Training-only augmentation: crop, flip, color jitter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0"/>
          <p:cNvSpPr/>
          <p:nvPr/>
        </p:nvSpPr>
        <p:spPr>
          <a:xfrm>
            <a:off x="5120640" y="3410712"/>
            <a:ext cx="6568135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7800" lvl="0" marL="1778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50"/>
              <a:buFont typeface="Calibri"/>
              <a:buChar char="•"/>
            </a:pPr>
            <a:r>
              <a:rPr b="0" i="0" lang="en-US" sz="14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Backbone -&gt; Global Average Pooling -&gt; classifier head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0"/>
          <p:cNvSpPr/>
          <p:nvPr/>
        </p:nvSpPr>
        <p:spPr>
          <a:xfrm>
            <a:off x="5120640" y="4014216"/>
            <a:ext cx="6568135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7800" lvl="0" marL="1778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50"/>
              <a:buFont typeface="Calibri"/>
              <a:buChar char="•"/>
            </a:pPr>
            <a:r>
              <a:rPr b="0" i="0" lang="en-US" sz="14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Softmax output: Real/Fake + confidence score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0"/>
          <p:cNvSpPr/>
          <p:nvPr/>
        </p:nvSpPr>
        <p:spPr>
          <a:xfrm>
            <a:off x="5120640" y="4617720"/>
            <a:ext cx="6568135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7800" lvl="0" marL="1778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50"/>
              <a:buFont typeface="Calibri"/>
              <a:buChar char="•"/>
            </a:pPr>
            <a:r>
              <a:rPr b="0" i="0" lang="en-US" sz="14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This is the default path for every inference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0"/>
          <p:cNvSpPr/>
          <p:nvPr/>
        </p:nvSpPr>
        <p:spPr>
          <a:xfrm>
            <a:off x="11658600" y="649224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07D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07D8B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0"/>
          <p:cNvSpPr/>
          <p:nvPr/>
        </p:nvSpPr>
        <p:spPr>
          <a:xfrm>
            <a:off x="502920" y="649224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7D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07D8B"/>
                </a:solidFill>
                <a:latin typeface="Calibri"/>
                <a:ea typeface="Calibri"/>
                <a:cs typeface="Calibri"/>
                <a:sym typeface="Calibri"/>
              </a:rPr>
              <a:t>Deepfake Detection — Milestone 3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1"/>
          <p:cNvSpPr/>
          <p:nvPr/>
        </p:nvSpPr>
        <p:spPr>
          <a:xfrm>
            <a:off x="502920" y="36576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47A1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D47A1"/>
                </a:solidFill>
                <a:latin typeface="Calibri"/>
                <a:ea typeface="Calibri"/>
                <a:cs typeface="Calibri"/>
                <a:sym typeface="Calibri"/>
              </a:rPr>
              <a:t>SECTION 5 · END-TO-END PIPELINE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1"/>
          <p:cNvSpPr/>
          <p:nvPr/>
        </p:nvSpPr>
        <p:spPr>
          <a:xfrm>
            <a:off x="502920" y="658368"/>
            <a:ext cx="111556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Secondary &amp; Tertiary Models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1"/>
          <p:cNvSpPr/>
          <p:nvPr/>
        </p:nvSpPr>
        <p:spPr>
          <a:xfrm>
            <a:off x="502920" y="1481328"/>
            <a:ext cx="5394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52400" lvl="0" marL="15240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Not run on every request — invoked only when needed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1"/>
          <p:cNvSpPr/>
          <p:nvPr/>
        </p:nvSpPr>
        <p:spPr>
          <a:xfrm>
            <a:off x="6126480" y="1481328"/>
            <a:ext cx="5394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52400" lvl="0" marL="15240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Dual-Stream: spectral cross-check when confidence is low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1"/>
          <p:cNvSpPr/>
          <p:nvPr/>
        </p:nvSpPr>
        <p:spPr>
          <a:xfrm>
            <a:off x="502920" y="1865376"/>
            <a:ext cx="5394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52400" lvl="0" marL="15240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EfficientNet-B2: handles video input + Grad-CAM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1"/>
          <p:cNvSpPr/>
          <p:nvPr/>
        </p:nvSpPr>
        <p:spPr>
          <a:xfrm>
            <a:off x="6126480" y="1865376"/>
            <a:ext cx="5394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52400" lvl="0" marL="15240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Both feed evidence back into the final decision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1"/>
          <p:cNvSpPr/>
          <p:nvPr/>
        </p:nvSpPr>
        <p:spPr>
          <a:xfrm>
            <a:off x="2410816" y="2404872"/>
            <a:ext cx="3529584" cy="3895344"/>
          </a:xfrm>
          <a:prstGeom prst="roundRect">
            <a:avLst>
              <a:gd fmla="val 2591" name="adj"/>
            </a:avLst>
          </a:prstGeom>
          <a:solidFill>
            <a:srgbClr val="F4F6F8"/>
          </a:solidFill>
          <a:ln cap="flat" cmpd="sng" w="12700">
            <a:solidFill>
              <a:srgbClr val="E0E4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pt_images/dualstream_mini_flowchart.png" id="163" name="Google Shape;16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83968" y="2478024"/>
            <a:ext cx="3383280" cy="374904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1"/>
          <p:cNvSpPr/>
          <p:nvPr/>
        </p:nvSpPr>
        <p:spPr>
          <a:xfrm>
            <a:off x="6251296" y="2404872"/>
            <a:ext cx="3529584" cy="3895344"/>
          </a:xfrm>
          <a:prstGeom prst="roundRect">
            <a:avLst>
              <a:gd fmla="val 2591" name="adj"/>
            </a:avLst>
          </a:prstGeom>
          <a:solidFill>
            <a:srgbClr val="F4F6F8"/>
          </a:solidFill>
          <a:ln cap="flat" cmpd="sng" w="12700">
            <a:solidFill>
              <a:srgbClr val="E0E4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pt_images/efficientnet_mini_flowchart.png" id="165" name="Google Shape;165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24448" y="2478024"/>
            <a:ext cx="3383280" cy="374904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1"/>
          <p:cNvSpPr/>
          <p:nvPr/>
        </p:nvSpPr>
        <p:spPr>
          <a:xfrm>
            <a:off x="11658600" y="649224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07D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07D8B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1"/>
          <p:cNvSpPr/>
          <p:nvPr/>
        </p:nvSpPr>
        <p:spPr>
          <a:xfrm>
            <a:off x="502920" y="649224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7D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07D8B"/>
                </a:solidFill>
                <a:latin typeface="Calibri"/>
                <a:ea typeface="Calibri"/>
                <a:cs typeface="Calibri"/>
                <a:sym typeface="Calibri"/>
              </a:rPr>
              <a:t>Deepfake Detection — Milestone 3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2"/>
          <p:cNvSpPr/>
          <p:nvPr/>
        </p:nvSpPr>
        <p:spPr>
          <a:xfrm>
            <a:off x="502920" y="36576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47A1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D47A1"/>
                </a:solidFill>
                <a:latin typeface="Calibri"/>
                <a:ea typeface="Calibri"/>
                <a:cs typeface="Calibri"/>
                <a:sym typeface="Calibri"/>
              </a:rPr>
              <a:t>SECTION 6 · ARCHITECTURE VISUALIZATION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2"/>
          <p:cNvSpPr/>
          <p:nvPr/>
        </p:nvSpPr>
        <p:spPr>
          <a:xfrm>
            <a:off x="502920" y="658368"/>
            <a:ext cx="111556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Unified Pipeline Flowchart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2"/>
          <p:cNvSpPr/>
          <p:nvPr/>
        </p:nvSpPr>
        <p:spPr>
          <a:xfrm>
            <a:off x="429768" y="1481328"/>
            <a:ext cx="4352544" cy="4992624"/>
          </a:xfrm>
          <a:prstGeom prst="roundRect">
            <a:avLst>
              <a:gd fmla="val 2101" name="adj"/>
            </a:avLst>
          </a:prstGeom>
          <a:solidFill>
            <a:srgbClr val="F4F6F8"/>
          </a:solidFill>
          <a:ln cap="flat" cmpd="sng" w="12700">
            <a:solidFill>
              <a:srgbClr val="E0E4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pt_images/simplified_unified_flow.png" id="176" name="Google Shape;176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1554480"/>
            <a:ext cx="4206240" cy="484632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2"/>
          <p:cNvSpPr/>
          <p:nvPr/>
        </p:nvSpPr>
        <p:spPr>
          <a:xfrm>
            <a:off x="5212080" y="1600200"/>
            <a:ext cx="6476695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7800" lvl="0" marL="1778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50"/>
              <a:buFont typeface="Calibri"/>
              <a:buChar char="•"/>
            </a:pPr>
            <a:r>
              <a:rPr b="0" i="0" lang="en-US" sz="14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One flowchart, not three — primary model decides by default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2"/>
          <p:cNvSpPr/>
          <p:nvPr/>
        </p:nvSpPr>
        <p:spPr>
          <a:xfrm>
            <a:off x="5212080" y="2203704"/>
            <a:ext cx="6476695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7800" lvl="0" marL="1778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50"/>
              <a:buFont typeface="Calibri"/>
              <a:buChar char="•"/>
            </a:pPr>
            <a:r>
              <a:rPr b="0" i="0" lang="en-US" sz="14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MobileNetV3-Large output is the default Real/Fake decision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2"/>
          <p:cNvSpPr/>
          <p:nvPr/>
        </p:nvSpPr>
        <p:spPr>
          <a:xfrm>
            <a:off x="5212080" y="2807208"/>
            <a:ext cx="6476695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7800" lvl="0" marL="1778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50"/>
              <a:buFont typeface="Calibri"/>
              <a:buChar char="•"/>
            </a:pPr>
            <a:r>
              <a:rPr b="0" i="0" lang="en-US" sz="14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Secondary/tertiary models only trigger on low confidence or video input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2"/>
          <p:cNvSpPr/>
          <p:nvPr/>
        </p:nvSpPr>
        <p:spPr>
          <a:xfrm>
            <a:off x="5212080" y="3410712"/>
            <a:ext cx="6476695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7800" lvl="0" marL="1778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50"/>
              <a:buFont typeface="Calibri"/>
              <a:buChar char="•"/>
            </a:pPr>
            <a:r>
              <a:rPr b="0" i="0" lang="en-US" sz="14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Every decision can carry supporting evidence: Grad-CAM heatmap and/or HPF spectrum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2"/>
          <p:cNvSpPr/>
          <p:nvPr/>
        </p:nvSpPr>
        <p:spPr>
          <a:xfrm>
            <a:off x="11658600" y="649224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07D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07D8B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2"/>
          <p:cNvSpPr/>
          <p:nvPr/>
        </p:nvSpPr>
        <p:spPr>
          <a:xfrm>
            <a:off x="502920" y="649224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7D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07D8B"/>
                </a:solidFill>
                <a:latin typeface="Calibri"/>
                <a:ea typeface="Calibri"/>
                <a:cs typeface="Calibri"/>
                <a:sym typeface="Calibri"/>
              </a:rPr>
              <a:t>Deepfake Detection — Milestone 3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3"/>
          <p:cNvSpPr/>
          <p:nvPr/>
        </p:nvSpPr>
        <p:spPr>
          <a:xfrm>
            <a:off x="502920" y="36576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47A1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D47A1"/>
                </a:solidFill>
                <a:latin typeface="Calibri"/>
                <a:ea typeface="Calibri"/>
                <a:cs typeface="Calibri"/>
                <a:sym typeface="Calibri"/>
              </a:rPr>
              <a:t>SECTION 6 · ARCHITECTURE VISUALIZATION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3"/>
          <p:cNvSpPr/>
          <p:nvPr/>
        </p:nvSpPr>
        <p:spPr>
          <a:xfrm>
            <a:off x="502920" y="658368"/>
            <a:ext cx="111556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Explainability: What Signals Matter?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3"/>
          <p:cNvSpPr/>
          <p:nvPr/>
        </p:nvSpPr>
        <p:spPr>
          <a:xfrm>
            <a:off x="6711925" y="1481328"/>
            <a:ext cx="4833061" cy="4809744"/>
          </a:xfrm>
          <a:prstGeom prst="roundRect">
            <a:avLst>
              <a:gd fmla="val 1901" name="adj"/>
            </a:avLst>
          </a:prstGeom>
          <a:solidFill>
            <a:srgbClr val="F4F6F8"/>
          </a:solidFill>
          <a:ln cap="flat" cmpd="sng" w="12700">
            <a:solidFill>
              <a:srgbClr val="E0E4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SAGE-Detect workbench - real sample under analysis" id="191" name="Google Shape;191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85077" y="1554480"/>
            <a:ext cx="4686757" cy="466344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13"/>
          <p:cNvSpPr/>
          <p:nvPr/>
        </p:nvSpPr>
        <p:spPr>
          <a:xfrm>
            <a:off x="502920" y="1600200"/>
            <a:ext cx="5562295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7800" lvl="0" marL="1778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50"/>
              <a:buFont typeface="Calibri"/>
              <a:buChar char="•"/>
            </a:pPr>
            <a:r>
              <a:rPr b="0" i="0" lang="en-US" sz="14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Eyes / iris reflections — asymmetry is a common generator tell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3"/>
          <p:cNvSpPr/>
          <p:nvPr/>
        </p:nvSpPr>
        <p:spPr>
          <a:xfrm>
            <a:off x="502920" y="2203704"/>
            <a:ext cx="5562295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7800" lvl="0" marL="1778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50"/>
              <a:buFont typeface="Calibri"/>
              <a:buChar char="•"/>
            </a:pPr>
            <a:r>
              <a:rPr b="0" i="0" lang="en-US" sz="14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Nose bridge &amp; shading — frequent blending-seam location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3"/>
          <p:cNvSpPr/>
          <p:nvPr/>
        </p:nvSpPr>
        <p:spPr>
          <a:xfrm>
            <a:off x="502920" y="2807208"/>
            <a:ext cx="5562295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7800" lvl="0" marL="1778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50"/>
              <a:buFont typeface="Calibri"/>
              <a:buChar char="•"/>
            </a:pPr>
            <a:r>
              <a:rPr b="0" i="0" lang="en-US" sz="14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Mouth / teeth boundary — irregular spacing, texture mismatch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3"/>
          <p:cNvSpPr/>
          <p:nvPr/>
        </p:nvSpPr>
        <p:spPr>
          <a:xfrm>
            <a:off x="502920" y="3410712"/>
            <a:ext cx="5562295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7800" lvl="0" marL="1778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50"/>
              <a:buFont typeface="Calibri"/>
              <a:buChar char="•"/>
            </a:pPr>
            <a:r>
              <a:rPr b="0" i="0" lang="en-US" sz="14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Skin texture — over-smoothing, missing pore-level detail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3"/>
          <p:cNvSpPr/>
          <p:nvPr/>
        </p:nvSpPr>
        <p:spPr>
          <a:xfrm>
            <a:off x="502920" y="4014216"/>
            <a:ext cx="5562295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7800" lvl="0" marL="1778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50"/>
              <a:buFont typeface="Calibri"/>
              <a:buChar char="•"/>
            </a:pPr>
            <a:r>
              <a:rPr b="0" i="0" lang="en-US" sz="14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Hairline / ear geometry — blur or asymmetric shape at crop edge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3"/>
          <p:cNvSpPr/>
          <p:nvPr/>
        </p:nvSpPr>
        <p:spPr>
          <a:xfrm>
            <a:off x="11658600" y="649224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07D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07D8B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3"/>
          <p:cNvSpPr/>
          <p:nvPr/>
        </p:nvSpPr>
        <p:spPr>
          <a:xfrm>
            <a:off x="502920" y="649224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7D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07D8B"/>
                </a:solidFill>
                <a:latin typeface="Calibri"/>
                <a:ea typeface="Calibri"/>
                <a:cs typeface="Calibri"/>
                <a:sym typeface="Calibri"/>
              </a:rPr>
              <a:t>Deepfake Detection — Milestone 3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4"/>
          <p:cNvSpPr/>
          <p:nvPr/>
        </p:nvSpPr>
        <p:spPr>
          <a:xfrm>
            <a:off x="502920" y="36576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47A1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D47A1"/>
                </a:solidFill>
                <a:latin typeface="Calibri"/>
                <a:ea typeface="Calibri"/>
                <a:cs typeface="Calibri"/>
                <a:sym typeface="Calibri"/>
              </a:rPr>
              <a:t>SECTION 6 · ARCHITECTURE VISUALIZATION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4"/>
          <p:cNvSpPr/>
          <p:nvPr/>
        </p:nvSpPr>
        <p:spPr>
          <a:xfrm>
            <a:off x="502920" y="658368"/>
            <a:ext cx="111556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Grad-CAM in Practice: Live Workbench Output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4"/>
          <p:cNvSpPr/>
          <p:nvPr/>
        </p:nvSpPr>
        <p:spPr>
          <a:xfrm>
            <a:off x="429768" y="1481328"/>
            <a:ext cx="4833061" cy="4809744"/>
          </a:xfrm>
          <a:prstGeom prst="roundRect">
            <a:avLst>
              <a:gd fmla="val 2463" name="adj"/>
            </a:avLst>
          </a:prstGeom>
          <a:solidFill>
            <a:srgbClr val="F4F6F8"/>
          </a:solidFill>
          <a:ln cap="flat" cmpd="sng" w="12700">
            <a:solidFill>
              <a:srgbClr val="E0E4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SAGE-Detect workbench - explainability output" id="207" name="Google Shape;20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1554480"/>
            <a:ext cx="4686757" cy="466344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14"/>
          <p:cNvSpPr/>
          <p:nvPr/>
        </p:nvSpPr>
        <p:spPr>
          <a:xfrm>
            <a:off x="6096000" y="1600200"/>
            <a:ext cx="5592775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7800" lvl="0" marL="1778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50"/>
              <a:buFont typeface="Calibri"/>
              <a:buChar char="•"/>
            </a:pPr>
            <a:r>
              <a:rPr b="0" i="0" lang="en-US" sz="14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Gradient of fake-probability backpropagated to the last conv layer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4"/>
          <p:cNvSpPr/>
          <p:nvPr/>
        </p:nvSpPr>
        <p:spPr>
          <a:xfrm>
            <a:off x="6096000" y="2203704"/>
            <a:ext cx="5592775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7800" lvl="0" marL="1778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50"/>
              <a:buFont typeface="Calibri"/>
              <a:buChar char="•"/>
            </a:pPr>
            <a:r>
              <a:rPr b="0" i="0" lang="en-US" sz="14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Produces a heatmap of which regions drove the decision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4"/>
          <p:cNvSpPr/>
          <p:nvPr/>
        </p:nvSpPr>
        <p:spPr>
          <a:xfrm>
            <a:off x="6096000" y="2807208"/>
            <a:ext cx="5592775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7800" lvl="0" marL="1778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50"/>
              <a:buFont typeface="Calibri"/>
              <a:buChar char="•"/>
            </a:pPr>
            <a:r>
              <a:rPr b="0" i="0" lang="en-US" sz="14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Concentrates on eyes, nose bridge, mouth/teeth boundary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4"/>
          <p:cNvSpPr/>
          <p:nvPr/>
        </p:nvSpPr>
        <p:spPr>
          <a:xfrm>
            <a:off x="6096000" y="3410712"/>
            <a:ext cx="5592775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7800" lvl="0" marL="1778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50"/>
              <a:buFont typeface="Calibri"/>
              <a:buChar char="•"/>
            </a:pPr>
            <a:r>
              <a:rPr b="0" i="0" lang="en-US" sz="14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 genuine computation, not a heuristic — can surface artifacts we didn't anticipate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4"/>
          <p:cNvSpPr/>
          <p:nvPr/>
        </p:nvSpPr>
        <p:spPr>
          <a:xfrm>
            <a:off x="6096000" y="4014216"/>
            <a:ext cx="5592775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7800" lvl="0" marL="1778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50"/>
              <a:buFont typeface="Calibri"/>
              <a:buChar char="•"/>
            </a:pPr>
            <a:r>
              <a:rPr b="0" i="0" lang="en-US" sz="14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Used by the tertiary (EfficientNet-B2) model for human-auditable output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4"/>
          <p:cNvSpPr/>
          <p:nvPr/>
        </p:nvSpPr>
        <p:spPr>
          <a:xfrm>
            <a:off x="11658600" y="649224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07D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07D8B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4"/>
          <p:cNvSpPr/>
          <p:nvPr/>
        </p:nvSpPr>
        <p:spPr>
          <a:xfrm>
            <a:off x="502920" y="649224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7D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07D8B"/>
                </a:solidFill>
                <a:latin typeface="Calibri"/>
                <a:ea typeface="Calibri"/>
                <a:cs typeface="Calibri"/>
                <a:sym typeface="Calibri"/>
              </a:rPr>
              <a:t>Deepfake Detection — Milestone 3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5"/>
          <p:cNvSpPr/>
          <p:nvPr/>
        </p:nvSpPr>
        <p:spPr>
          <a:xfrm>
            <a:off x="502920" y="36576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47A1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D47A1"/>
                </a:solidFill>
                <a:latin typeface="Calibri"/>
                <a:ea typeface="Calibri"/>
                <a:cs typeface="Calibri"/>
                <a:sym typeface="Calibri"/>
              </a:rPr>
              <a:t>EMPIRICAL EVIDENCE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5"/>
          <p:cNvSpPr/>
          <p:nvPr/>
        </p:nvSpPr>
        <p:spPr>
          <a:xfrm>
            <a:off x="502920" y="658368"/>
            <a:ext cx="111556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Generalization to Modern AI Generators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5"/>
          <p:cNvSpPr/>
          <p:nvPr/>
        </p:nvSpPr>
        <p:spPr>
          <a:xfrm>
            <a:off x="6677863" y="1481328"/>
            <a:ext cx="5084064" cy="4901184"/>
          </a:xfrm>
          <a:prstGeom prst="roundRect">
            <a:avLst>
              <a:gd fmla="val 1866" name="adj"/>
            </a:avLst>
          </a:prstGeom>
          <a:solidFill>
            <a:srgbClr val="F4F6F8"/>
          </a:solidFill>
          <a:ln cap="flat" cmpd="sng" w="12700">
            <a:solidFill>
              <a:srgbClr val="E0E4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pt_images/chatgpt_gemini_chart.png" id="223" name="Google Shape;22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51015" y="1554480"/>
            <a:ext cx="4937760" cy="475488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15"/>
          <p:cNvSpPr/>
          <p:nvPr/>
        </p:nvSpPr>
        <p:spPr>
          <a:xfrm>
            <a:off x="502920" y="1600200"/>
            <a:ext cx="5745175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7800" lvl="0" marL="1778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50"/>
              <a:buFont typeface="Calibri"/>
              <a:buChar char="•"/>
            </a:pPr>
            <a:r>
              <a:rPr b="0" i="0" lang="en-US" sz="14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Tested on images never seen during training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5"/>
          <p:cNvSpPr/>
          <p:nvPr/>
        </p:nvSpPr>
        <p:spPr>
          <a:xfrm>
            <a:off x="502920" y="2203704"/>
            <a:ext cx="5745175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7800" lvl="0" marL="1778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50"/>
              <a:buFont typeface="Calibri"/>
              <a:buChar char="•"/>
            </a:pPr>
            <a:r>
              <a:rPr b="0" i="0" lang="en-US" sz="14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ChatGPT &amp; Gemini image generators — released after the original dataset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5"/>
          <p:cNvSpPr/>
          <p:nvPr/>
        </p:nvSpPr>
        <p:spPr>
          <a:xfrm>
            <a:off x="502920" y="2807208"/>
            <a:ext cx="5745175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7800" lvl="0" marL="1778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50"/>
              <a:buFont typeface="Calibri"/>
              <a:buChar char="•"/>
            </a:pPr>
            <a:r>
              <a:rPr b="0" i="0" lang="en-US" sz="14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80% accuracy with zero additional fine-tuning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5"/>
          <p:cNvSpPr/>
          <p:nvPr/>
        </p:nvSpPr>
        <p:spPr>
          <a:xfrm>
            <a:off x="502920" y="3410712"/>
            <a:ext cx="5745175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7800" lvl="0" marL="1778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50"/>
              <a:buFont typeface="Calibri"/>
              <a:buChar char="•"/>
            </a:pPr>
            <a:r>
              <a:rPr b="0" i="0" lang="en-US" sz="14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Strongest evidence the model learned generalizable artifacts, not a Stable-Diffusion-specific fingerprint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5"/>
          <p:cNvSpPr/>
          <p:nvPr/>
        </p:nvSpPr>
        <p:spPr>
          <a:xfrm>
            <a:off x="502920" y="4014216"/>
            <a:ext cx="5745175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7800" lvl="0" marL="1778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50"/>
              <a:buFont typeface="Calibri"/>
              <a:buChar char="•"/>
            </a:pPr>
            <a:r>
              <a:rPr b="0" i="0" lang="en-US" sz="14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The key reason MobileNetV3-Large is the selected architecture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5"/>
          <p:cNvSpPr/>
          <p:nvPr/>
        </p:nvSpPr>
        <p:spPr>
          <a:xfrm>
            <a:off x="11658600" y="649224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07D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07D8B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5"/>
          <p:cNvSpPr/>
          <p:nvPr/>
        </p:nvSpPr>
        <p:spPr>
          <a:xfrm>
            <a:off x="502920" y="649224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7D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07D8B"/>
                </a:solidFill>
                <a:latin typeface="Calibri"/>
                <a:ea typeface="Calibri"/>
                <a:cs typeface="Calibri"/>
                <a:sym typeface="Calibri"/>
              </a:rPr>
              <a:t>Deepfake Detection — Milestone 3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6"/>
          <p:cNvSpPr/>
          <p:nvPr/>
        </p:nvSpPr>
        <p:spPr>
          <a:xfrm>
            <a:off x="502920" y="36576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47A1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D47A1"/>
                </a:solidFill>
                <a:latin typeface="Calibri"/>
                <a:ea typeface="Calibri"/>
                <a:cs typeface="Calibri"/>
                <a:sym typeface="Calibri"/>
              </a:rPr>
              <a:t>MODEL COMPARISON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6"/>
          <p:cNvSpPr/>
          <p:nvPr/>
        </p:nvSpPr>
        <p:spPr>
          <a:xfrm>
            <a:off x="502920" y="658368"/>
            <a:ext cx="111556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Final Model Comparison — Which Is Better?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6"/>
          <p:cNvSpPr/>
          <p:nvPr/>
        </p:nvSpPr>
        <p:spPr>
          <a:xfrm>
            <a:off x="429768" y="1481328"/>
            <a:ext cx="6272784" cy="4352544"/>
          </a:xfrm>
          <a:prstGeom prst="roundRect">
            <a:avLst>
              <a:gd fmla="val 2101" name="adj"/>
            </a:avLst>
          </a:prstGeom>
          <a:solidFill>
            <a:srgbClr val="F4F6F8"/>
          </a:solidFill>
          <a:ln cap="flat" cmpd="sng" w="12700">
            <a:solidFill>
              <a:srgbClr val="E0E4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mages/model_comparison_metrics.png" id="239" name="Google Shape;23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1554480"/>
            <a:ext cx="6126480" cy="420624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16"/>
          <p:cNvSpPr/>
          <p:nvPr/>
        </p:nvSpPr>
        <p:spPr>
          <a:xfrm>
            <a:off x="7132320" y="1600200"/>
            <a:ext cx="4556455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7800" lvl="0" marL="1778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50"/>
              <a:buFont typeface="Calibri"/>
              <a:buChar char="•"/>
            </a:pPr>
            <a:r>
              <a:rPr b="0" i="0" lang="en-US" sz="14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1. Highest real-world accuracy — works on images it never trained on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6"/>
          <p:cNvSpPr/>
          <p:nvPr/>
        </p:nvSpPr>
        <p:spPr>
          <a:xfrm>
            <a:off x="7132320" y="2203704"/>
            <a:ext cx="4556455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7800" lvl="0" marL="1778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50"/>
              <a:buFont typeface="Calibri"/>
              <a:buChar char="•"/>
            </a:pPr>
            <a:r>
              <a:rPr b="0" i="0" lang="en-US" sz="14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2. Smallest and fastest — 10x fewer parameters than Dual-Stream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6"/>
          <p:cNvSpPr/>
          <p:nvPr/>
        </p:nvSpPr>
        <p:spPr>
          <a:xfrm>
            <a:off x="7132320" y="2807208"/>
            <a:ext cx="4556455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7800" lvl="0" marL="1778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50"/>
              <a:buFont typeface="Calibri"/>
              <a:buChar char="•"/>
            </a:pPr>
            <a:r>
              <a:rPr b="0" i="0" lang="en-US" sz="14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3. Simplest to run — one image in, one answer out, no extra steps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6"/>
          <p:cNvSpPr/>
          <p:nvPr/>
        </p:nvSpPr>
        <p:spPr>
          <a:xfrm>
            <a:off x="7132320" y="3410712"/>
            <a:ext cx="4556455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7800" lvl="0" marL="1778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50"/>
              <a:buFont typeface="Calibri"/>
              <a:buChar char="•"/>
            </a:pPr>
            <a:r>
              <a:rPr b="0" i="0" lang="en-US" sz="14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4. Cheapest to host — smaller model, lower compute cost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6"/>
          <p:cNvSpPr/>
          <p:nvPr/>
        </p:nvSpPr>
        <p:spPr>
          <a:xfrm>
            <a:off x="7132320" y="4014216"/>
            <a:ext cx="4556455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7800" lvl="0" marL="1778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50"/>
              <a:buFont typeface="Calibri"/>
              <a:buChar char="•"/>
            </a:pPr>
            <a:r>
              <a:rPr b="0" i="0" lang="en-US" sz="14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5. Best overall balance — Dual-Stream and EfficientNet-B2 help only as backup checks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6"/>
          <p:cNvSpPr/>
          <p:nvPr/>
        </p:nvSpPr>
        <p:spPr>
          <a:xfrm>
            <a:off x="11658600" y="649224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07D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07D8B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6"/>
          <p:cNvSpPr/>
          <p:nvPr/>
        </p:nvSpPr>
        <p:spPr>
          <a:xfrm>
            <a:off x="502920" y="649224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7D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07D8B"/>
                </a:solidFill>
                <a:latin typeface="Calibri"/>
                <a:ea typeface="Calibri"/>
                <a:cs typeface="Calibri"/>
                <a:sym typeface="Calibri"/>
              </a:rPr>
              <a:t>Deepfake Detection — Milestone 3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F3A"/>
        </a:solidFill>
      </p:bgPr>
    </p:bg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7"/>
          <p:cNvSpPr/>
          <p:nvPr/>
        </p:nvSpPr>
        <p:spPr>
          <a:xfrm>
            <a:off x="822960" y="64008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CAF9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90CAF9"/>
                </a:solidFill>
                <a:latin typeface="Calibri"/>
                <a:ea typeface="Calibri"/>
                <a:cs typeface="Calibri"/>
                <a:sym typeface="Calibri"/>
              </a:rPr>
              <a:t>KEY TAKEAWAYS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7"/>
          <p:cNvSpPr/>
          <p:nvPr/>
        </p:nvSpPr>
        <p:spPr>
          <a:xfrm>
            <a:off x="822960" y="1005840"/>
            <a:ext cx="10515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MobileNetV3-Large: Selected Architecture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7"/>
          <p:cNvSpPr/>
          <p:nvPr/>
        </p:nvSpPr>
        <p:spPr>
          <a:xfrm>
            <a:off x="822960" y="2103120"/>
            <a:ext cx="2514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B5F6"/>
              </a:buClr>
              <a:buSzPts val="4400"/>
              <a:buFont typeface="Calibri"/>
              <a:buNone/>
            </a:pPr>
            <a:r>
              <a:rPr b="1" i="0" lang="en-US" sz="4400" u="none" cap="none" strike="noStrike">
                <a:solidFill>
                  <a:srgbClr val="64B5F6"/>
                </a:solidFill>
                <a:latin typeface="Calibri"/>
                <a:ea typeface="Calibri"/>
                <a:cs typeface="Calibri"/>
                <a:sym typeface="Calibri"/>
              </a:rPr>
              <a:t>80%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7"/>
          <p:cNvSpPr/>
          <p:nvPr/>
        </p:nvSpPr>
        <p:spPr>
          <a:xfrm>
            <a:off x="822960" y="3063240"/>
            <a:ext cx="2514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CFD8DC"/>
                </a:solidFill>
                <a:latin typeface="Calibri"/>
                <a:ea typeface="Calibri"/>
                <a:cs typeface="Calibri"/>
                <a:sym typeface="Calibri"/>
              </a:rPr>
              <a:t>Accuracy on unseen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CFD8DC"/>
                </a:solidFill>
                <a:latin typeface="Calibri"/>
                <a:ea typeface="Calibri"/>
                <a:cs typeface="Calibri"/>
                <a:sym typeface="Calibri"/>
              </a:rPr>
              <a:t>ChatGPT/Gemini images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7"/>
          <p:cNvSpPr/>
          <p:nvPr/>
        </p:nvSpPr>
        <p:spPr>
          <a:xfrm>
            <a:off x="3520440" y="2103120"/>
            <a:ext cx="2514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B5F6"/>
              </a:buClr>
              <a:buSzPts val="4400"/>
              <a:buFont typeface="Calibri"/>
              <a:buNone/>
            </a:pPr>
            <a:r>
              <a:rPr b="1" i="0" lang="en-US" sz="4400" u="none" cap="none" strike="noStrike">
                <a:solidFill>
                  <a:srgbClr val="64B5F6"/>
                </a:solidFill>
                <a:latin typeface="Calibri"/>
                <a:ea typeface="Calibri"/>
                <a:cs typeface="Calibri"/>
                <a:sym typeface="Calibri"/>
              </a:rPr>
              <a:t>99.96%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7"/>
          <p:cNvSpPr/>
          <p:nvPr/>
        </p:nvSpPr>
        <p:spPr>
          <a:xfrm>
            <a:off x="3520440" y="3063240"/>
            <a:ext cx="2514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CFD8DC"/>
                </a:solidFill>
                <a:latin typeface="Calibri"/>
                <a:ea typeface="Calibri"/>
                <a:cs typeface="Calibri"/>
                <a:sym typeface="Calibri"/>
              </a:rPr>
              <a:t>In-domain test accuracy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7"/>
          <p:cNvSpPr/>
          <p:nvPr/>
        </p:nvSpPr>
        <p:spPr>
          <a:xfrm>
            <a:off x="6217920" y="2103120"/>
            <a:ext cx="2514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B5F6"/>
              </a:buClr>
              <a:buSzPts val="4400"/>
              <a:buFont typeface="Calibri"/>
              <a:buNone/>
            </a:pPr>
            <a:r>
              <a:rPr b="1" i="0" lang="en-US" sz="4400" u="none" cap="none" strike="noStrike">
                <a:solidFill>
                  <a:srgbClr val="64B5F6"/>
                </a:solidFill>
                <a:latin typeface="Calibri"/>
                <a:ea typeface="Calibri"/>
                <a:cs typeface="Calibri"/>
                <a:sym typeface="Calibri"/>
              </a:rPr>
              <a:t>4.2M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7"/>
          <p:cNvSpPr/>
          <p:nvPr/>
        </p:nvSpPr>
        <p:spPr>
          <a:xfrm>
            <a:off x="6217920" y="3063240"/>
            <a:ext cx="2514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CFD8DC"/>
                </a:solidFill>
                <a:latin typeface="Calibri"/>
                <a:ea typeface="Calibri"/>
                <a:cs typeface="Calibri"/>
                <a:sym typeface="Calibri"/>
              </a:rPr>
              <a:t>Parameters — 10x smaller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CFD8DC"/>
                </a:solidFill>
                <a:latin typeface="Calibri"/>
                <a:ea typeface="Calibri"/>
                <a:cs typeface="Calibri"/>
                <a:sym typeface="Calibri"/>
              </a:rPr>
              <a:t>than Dual-Stream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7"/>
          <p:cNvSpPr/>
          <p:nvPr/>
        </p:nvSpPr>
        <p:spPr>
          <a:xfrm>
            <a:off x="8915400" y="2103120"/>
            <a:ext cx="2514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B5F6"/>
              </a:buClr>
              <a:buSzPts val="4400"/>
              <a:buFont typeface="Calibri"/>
              <a:buNone/>
            </a:pPr>
            <a:r>
              <a:rPr b="1" i="0" lang="en-US" sz="4400" u="none" cap="none" strike="noStrike">
                <a:solidFill>
                  <a:srgbClr val="64B5F6"/>
                </a:solidFill>
                <a:latin typeface="Calibri"/>
                <a:ea typeface="Calibri"/>
                <a:cs typeface="Calibri"/>
                <a:sym typeface="Calibri"/>
              </a:rPr>
              <a:t>8.2ms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7"/>
          <p:cNvSpPr/>
          <p:nvPr/>
        </p:nvSpPr>
        <p:spPr>
          <a:xfrm>
            <a:off x="8915400" y="3063240"/>
            <a:ext cx="2514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CFD8DC"/>
                </a:solidFill>
                <a:latin typeface="Calibri"/>
                <a:ea typeface="Calibri"/>
                <a:cs typeface="Calibri"/>
                <a:sym typeface="Calibri"/>
              </a:rPr>
              <a:t>Inference latency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CFD8DC"/>
                </a:solidFill>
                <a:latin typeface="Calibri"/>
                <a:ea typeface="Calibri"/>
                <a:cs typeface="Calibri"/>
                <a:sym typeface="Calibri"/>
              </a:rPr>
              <a:t>per image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7"/>
          <p:cNvSpPr/>
          <p:nvPr/>
        </p:nvSpPr>
        <p:spPr>
          <a:xfrm>
            <a:off x="822960" y="443484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1350"/>
              <a:buFont typeface="Calibri"/>
              <a:buNone/>
            </a:pPr>
            <a:r>
              <a:rPr b="0" i="1" lang="en-US" sz="135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Secondary: Dual-Stream Fusion (spectral verification)   |   Tertiary: EfficientNet-B2 (video + Grad-CAM)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7"/>
          <p:cNvSpPr/>
          <p:nvPr/>
        </p:nvSpPr>
        <p:spPr>
          <a:xfrm>
            <a:off x="11658600" y="649224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7"/>
          <p:cNvSpPr/>
          <p:nvPr/>
        </p:nvSpPr>
        <p:spPr>
          <a:xfrm>
            <a:off x="502920" y="649224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7D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07D8B"/>
                </a:solidFill>
                <a:latin typeface="Calibri"/>
                <a:ea typeface="Calibri"/>
                <a:cs typeface="Calibri"/>
                <a:sym typeface="Calibri"/>
              </a:rPr>
              <a:t>Deepfake Detection — Milestone 3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8"/>
          <p:cNvSpPr/>
          <p:nvPr/>
        </p:nvSpPr>
        <p:spPr>
          <a:xfrm>
            <a:off x="502920" y="36576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47A1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D47A1"/>
                </a:solidFill>
                <a:latin typeface="Calibri"/>
                <a:ea typeface="Calibri"/>
                <a:cs typeface="Calibri"/>
                <a:sym typeface="Calibri"/>
              </a:rPr>
              <a:t>TEST SET RESULTS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8"/>
          <p:cNvSpPr/>
          <p:nvPr/>
        </p:nvSpPr>
        <p:spPr>
          <a:xfrm>
            <a:off x="502920" y="658368"/>
            <a:ext cx="111556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Confusion Matrix — MobileNetV3-Large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8"/>
          <p:cNvSpPr/>
          <p:nvPr/>
        </p:nvSpPr>
        <p:spPr>
          <a:xfrm>
            <a:off x="429768" y="1481328"/>
            <a:ext cx="5907024" cy="4992624"/>
          </a:xfrm>
          <a:prstGeom prst="roundRect">
            <a:avLst>
              <a:gd fmla="val 1832" name="adj"/>
            </a:avLst>
          </a:prstGeom>
          <a:solidFill>
            <a:srgbClr val="F4F6F8"/>
          </a:solidFill>
          <a:ln cap="flat" cmpd="sng" w="12700">
            <a:solidFill>
              <a:srgbClr val="E0E4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pt_images/confusion_matrix_explained.png" id="273" name="Google Shape;27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1554480"/>
            <a:ext cx="5760720" cy="4846320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18"/>
          <p:cNvSpPr/>
          <p:nvPr/>
        </p:nvSpPr>
        <p:spPr>
          <a:xfrm>
            <a:off x="6766560" y="1600200"/>
            <a:ext cx="4922215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7800" lvl="0" marL="1778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50"/>
              <a:buFont typeface="Calibri"/>
              <a:buChar char="•"/>
            </a:pPr>
            <a:r>
              <a:rPr b="0" i="0" lang="en-US" sz="14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2,401 test images — 1,500 Real, 901 Fake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8"/>
          <p:cNvSpPr/>
          <p:nvPr/>
        </p:nvSpPr>
        <p:spPr>
          <a:xfrm>
            <a:off x="6766560" y="2203704"/>
            <a:ext cx="4922215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7800" lvl="0" marL="1778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50"/>
              <a:buFont typeface="Calibri"/>
              <a:buChar char="•"/>
            </a:pPr>
            <a:r>
              <a:rPr b="0" i="0" lang="en-US" sz="14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1,499 Real correctly identified, only 1 missed as Fake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8"/>
          <p:cNvSpPr/>
          <p:nvPr/>
        </p:nvSpPr>
        <p:spPr>
          <a:xfrm>
            <a:off x="6766560" y="2807208"/>
            <a:ext cx="4922215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7800" lvl="0" marL="1778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50"/>
              <a:buFont typeface="Calibri"/>
              <a:buChar char="•"/>
            </a:pPr>
            <a:r>
              <a:rPr b="0" i="0" lang="en-US" sz="14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All 901 Fake images correctly caught — zero false negatives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8"/>
          <p:cNvSpPr/>
          <p:nvPr/>
        </p:nvSpPr>
        <p:spPr>
          <a:xfrm>
            <a:off x="6766560" y="3410712"/>
            <a:ext cx="4922215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7800" lvl="0" marL="1778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50"/>
              <a:buFont typeface="Calibri"/>
              <a:buChar char="•"/>
            </a:pPr>
            <a:r>
              <a:rPr b="0" i="0" lang="en-US" sz="14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Only 1 total error out of 2,401 predictions (99.96% accuracy)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8"/>
          <p:cNvSpPr/>
          <p:nvPr/>
        </p:nvSpPr>
        <p:spPr>
          <a:xfrm>
            <a:off x="6766560" y="4014216"/>
            <a:ext cx="4922215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7800" lvl="0" marL="1778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50"/>
              <a:buFont typeface="Calibri"/>
              <a:buChar char="•"/>
            </a:pPr>
            <a:r>
              <a:rPr b="0" i="0" lang="en-US" sz="14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Zero false negatives matters most: no fake image slips through undetected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8"/>
          <p:cNvSpPr/>
          <p:nvPr/>
        </p:nvSpPr>
        <p:spPr>
          <a:xfrm>
            <a:off x="11658600" y="649224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07D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07D8B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8"/>
          <p:cNvSpPr/>
          <p:nvPr/>
        </p:nvSpPr>
        <p:spPr>
          <a:xfrm>
            <a:off x="502920" y="649224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7D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07D8B"/>
                </a:solidFill>
                <a:latin typeface="Calibri"/>
                <a:ea typeface="Calibri"/>
                <a:cs typeface="Calibri"/>
                <a:sym typeface="Calibri"/>
              </a:rPr>
              <a:t>Deepfake Detection — Milestone 3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F3A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9"/>
          <p:cNvSpPr/>
          <p:nvPr/>
        </p:nvSpPr>
        <p:spPr>
          <a:xfrm>
            <a:off x="822960" y="2743200"/>
            <a:ext cx="10515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Font typeface="Calibri"/>
              <a:buNone/>
            </a:pPr>
            <a:r>
              <a:rPr b="1" i="0" lang="en-US" sz="4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9"/>
          <p:cNvSpPr/>
          <p:nvPr/>
        </p:nvSpPr>
        <p:spPr>
          <a:xfrm>
            <a:off x="822960" y="370332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CAF9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90CAF9"/>
                </a:solidFill>
                <a:latin typeface="Calibri"/>
                <a:ea typeface="Calibri"/>
                <a:cs typeface="Calibri"/>
                <a:sym typeface="Calibri"/>
              </a:rPr>
              <a:t>Deep Learning-Based Human Face Authenticity Detection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9"/>
          <p:cNvSpPr/>
          <p:nvPr/>
        </p:nvSpPr>
        <p:spPr>
          <a:xfrm>
            <a:off x="822960" y="416052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Questions &amp; Discussion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9"/>
          <p:cNvSpPr/>
          <p:nvPr/>
        </p:nvSpPr>
        <p:spPr>
          <a:xfrm>
            <a:off x="11658600" y="649224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0A4A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0A4AE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9"/>
          <p:cNvSpPr/>
          <p:nvPr/>
        </p:nvSpPr>
        <p:spPr>
          <a:xfrm>
            <a:off x="502920" y="649224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7D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07D8B"/>
                </a:solidFill>
                <a:latin typeface="Calibri"/>
                <a:ea typeface="Calibri"/>
                <a:cs typeface="Calibri"/>
                <a:sym typeface="Calibri"/>
              </a:rPr>
              <a:t>Deepfake Detection — Milestone 3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4"/>
          <p:cNvSpPr/>
          <p:nvPr/>
        </p:nvSpPr>
        <p:spPr>
          <a:xfrm>
            <a:off x="502920" y="36576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47A1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D47A1"/>
                </a:solidFill>
                <a:latin typeface="Calibri"/>
                <a:ea typeface="Calibri"/>
                <a:cs typeface="Calibri"/>
                <a:sym typeface="Calibri"/>
              </a:rPr>
              <a:t>SECTION 6 · ARCHITECTURE VISUALIZATION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4"/>
          <p:cNvSpPr/>
          <p:nvPr/>
        </p:nvSpPr>
        <p:spPr>
          <a:xfrm>
            <a:off x="502920" y="658368"/>
            <a:ext cx="111556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Decision Saliency &amp; Reconstruction Residual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Shape 220"/>
          <p:cNvSpPr/>
          <p:nvPr/>
        </p:nvSpPr>
        <p:spPr>
          <a:xfrm>
            <a:off x="429768" y="1481328"/>
            <a:ext cx="2706304" cy="2968796"/>
          </a:xfrm>
          <a:prstGeom prst="roundRect">
            <a:avLst>
              <a:gd fmla="val 2463" name="adj"/>
            </a:avLst>
          </a:prstGeom>
          <a:solidFill>
            <a:srgbClr val="F4F6F8"/>
          </a:solidFill>
          <a:ln cap="flat" cmpd="sng" w="12700">
            <a:solidFill>
              <a:srgbClr val="E0E4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decision saliency map" id="221" name="Shape 2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1554480"/>
            <a:ext cx="2560000" cy="2822492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Shape 222"/>
          <p:cNvSpPr/>
          <p:nvPr/>
        </p:nvSpPr>
        <p:spPr>
          <a:xfrm>
            <a:off x="3386072" y="1481328"/>
            <a:ext cx="2706304" cy="2968796"/>
          </a:xfrm>
          <a:prstGeom prst="roundRect">
            <a:avLst>
              <a:gd fmla="val 2463" name="adj"/>
            </a:avLst>
          </a:prstGeom>
          <a:solidFill>
            <a:srgbClr val="F4F6F8"/>
          </a:solidFill>
          <a:ln cap="flat" cmpd="sng" w="12700">
            <a:solidFill>
              <a:srgbClr val="E0E4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reconstruction residual map" id="223" name="Shape 2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59224" y="1554480"/>
            <a:ext cx="2560000" cy="2822492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Shape 224"/>
          <p:cNvSpPr/>
          <p:nvPr/>
        </p:nvSpPr>
        <p:spPr>
          <a:xfrm>
            <a:off x="429768" y="4510124"/>
            <a:ext cx="2706304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47A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47A1"/>
                </a:solidFill>
                <a:latin typeface="Calibri"/>
                <a:ea typeface="Calibri"/>
                <a:cs typeface="Calibri"/>
                <a:sym typeface="Calibri"/>
              </a:rPr>
              <a:t>decision saliency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Shape 225"/>
          <p:cNvSpPr/>
          <p:nvPr/>
        </p:nvSpPr>
        <p:spPr>
          <a:xfrm>
            <a:off x="3386072" y="4510124"/>
            <a:ext cx="2706304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47A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47A1"/>
                </a:solidFill>
                <a:latin typeface="Calibri"/>
                <a:ea typeface="Calibri"/>
                <a:cs typeface="Calibri"/>
                <a:sym typeface="Calibri"/>
              </a:rPr>
              <a:t>reconstruction residual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4"/>
          <p:cNvSpPr/>
          <p:nvPr/>
        </p:nvSpPr>
        <p:spPr>
          <a:xfrm>
            <a:off x="6553200" y="1600200"/>
            <a:ext cx="5135575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7800" lvl="0" marL="1778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50"/>
              <a:buFont typeface="Calibri"/>
              <a:buChar char="•"/>
            </a:pPr>
            <a:r>
              <a:rPr b="0" i="0" lang="en-US" sz="14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Decision saliency — absolute input gradient of the final fake logit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4"/>
          <p:cNvSpPr/>
          <p:nvPr/>
        </p:nvSpPr>
        <p:spPr>
          <a:xfrm>
            <a:off x="6553200" y="2203704"/>
            <a:ext cx="5135575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7800" lvl="0" marL="1778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50"/>
              <a:buFont typeface="Calibri"/>
              <a:buChar char="•"/>
            </a:pPr>
            <a:r>
              <a:rPr b="0" i="0" lang="en-US" sz="14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Shows where small pixel changes would most move the decision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4"/>
          <p:cNvSpPr/>
          <p:nvPr/>
        </p:nvSpPr>
        <p:spPr>
          <a:xfrm>
            <a:off x="6553200" y="2807208"/>
            <a:ext cx="5135575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7800" lvl="0" marL="1778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50"/>
              <a:buFont typeface="Calibri"/>
              <a:buChar char="•"/>
            </a:pPr>
            <a:r>
              <a:rPr b="0" i="0" lang="en-US" sz="14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Reconstruction residual — absolute reconstruction error of the rebuilt image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4"/>
          <p:cNvSpPr/>
          <p:nvPr/>
        </p:nvSpPr>
        <p:spPr>
          <a:xfrm>
            <a:off x="6553200" y="3410712"/>
            <a:ext cx="5135575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7800" lvl="0" marL="1778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50"/>
              <a:buFont typeface="Calibri"/>
              <a:buChar char="•"/>
            </a:pPr>
            <a:r>
              <a:rPr b="0" i="0" lang="en-US" sz="14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Diagnostic evidence, not a learned manipulation mask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4"/>
          <p:cNvSpPr/>
          <p:nvPr/>
        </p:nvSpPr>
        <p:spPr>
          <a:xfrm>
            <a:off x="6553200" y="4014216"/>
            <a:ext cx="5135575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7800" lvl="0" marL="1778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50"/>
              <a:buFont typeface="Calibri"/>
              <a:buChar char="•"/>
            </a:pPr>
            <a:r>
              <a:rPr b="0" i="0" lang="en-US" sz="14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Both are explanation maps, not separate inputs to the Real/Fake decision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4"/>
          <p:cNvSpPr/>
          <p:nvPr/>
        </p:nvSpPr>
        <p:spPr>
          <a:xfrm>
            <a:off x="11658600" y="649224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07D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07D8B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4"/>
          <p:cNvSpPr/>
          <p:nvPr/>
        </p:nvSpPr>
        <p:spPr>
          <a:xfrm>
            <a:off x="502920" y="649224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7D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07D8B"/>
                </a:solidFill>
                <a:latin typeface="Calibri"/>
                <a:ea typeface="Calibri"/>
                <a:cs typeface="Calibri"/>
                <a:sym typeface="Calibri"/>
              </a:rPr>
              <a:t>Deepfake Detection — Milestone 3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