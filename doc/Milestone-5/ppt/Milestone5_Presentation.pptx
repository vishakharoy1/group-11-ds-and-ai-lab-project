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&amp;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Human Face Authenticity Detection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Data Science &amp; AI Lab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mobilenetv3_best.pth  —  final-mobilenet (1).ipynb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 — Milestone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804672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46504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Vishakha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025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Presentation Lead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655064"/>
            <a:ext cx="7086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local web app (FastAPI + automated forensic report generation), diagnosed the preprocessing pipeline, and wrote Sections 1, 9 &amp; 10.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11155680" cy="804672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791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935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587752"/>
            <a:ext cx="7086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benchmarking — training configuration and real held-out test set results (Section 4).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3465576"/>
            <a:ext cx="11155680" cy="804672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118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538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Transfer Learning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520440"/>
            <a:ext cx="7086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setup and metric justification with real, verified numbers (Sections 2 &amp; 3).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4398264"/>
            <a:ext cx="11155680" cy="804672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544568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44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4714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4800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Bias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4453128"/>
            <a:ext cx="7086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error analysis — shortcut-learning root cause and cross-domain evaluation (Section 5).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5330952"/>
            <a:ext cx="11155680" cy="804672"/>
          </a:xfrm>
          <a:prstGeom prst="roundRect">
            <a:avLst>
              <a:gd name="adj" fmla="val 909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477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4041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Somendu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733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Optimisation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5385816"/>
            <a:ext cx="7086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verification, model limitations, and actionable insights (Sections 6, 7 &amp; 8).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— Milestone 1 to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4015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57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an explainable ViT + FFT/DCT frequency-fusion framework.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0" cy="548640"/>
          </a:xfrm>
          <a:prstGeom prst="line">
            <a:avLst/>
          </a:prstGeom>
          <a:noFill/>
          <a:ln w="12700">
            <a:solidFill>
              <a:srgbClr val="C9C9C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195828" y="34015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195828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41605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42519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dataset foundation — FFHQ vs. StyleGAN/SD, 120,000+ images.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451860" y="3657600"/>
            <a:ext cx="0" cy="502920"/>
          </a:xfrm>
          <a:prstGeom prst="line">
            <a:avLst/>
          </a:prstGeom>
          <a:noFill/>
          <a:ln w="12700">
            <a:solidFill>
              <a:srgbClr val="C9C9C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824728" y="34015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14900" y="1965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52060" y="2057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bake-off: selected MobileNetV3-Large — 4.2M params, 99.96% in-domain, 80% OOD (ChatGPT/Gemini).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080760" y="3108960"/>
            <a:ext cx="0" cy="548640"/>
          </a:xfrm>
          <a:prstGeom prst="line">
            <a:avLst/>
          </a:prstGeom>
          <a:noFill/>
          <a:ln w="12700">
            <a:solidFill>
              <a:srgbClr val="C9C9C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53628" y="34015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53628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43800" y="41605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42519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2-stage checkpoint, 99.06% test accuracy — faculty review flagged shortcut learning + a preprocessing mismatch.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709660" y="3657600"/>
            <a:ext cx="0" cy="502920"/>
          </a:xfrm>
          <a:prstGeom prst="line">
            <a:avLst/>
          </a:prstGeom>
          <a:noFill/>
          <a:ln w="12700">
            <a:solidFill>
              <a:srgbClr val="C9C9C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082528" y="3401568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11082528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91472" y="1965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BE9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28632" y="2057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the issue, added a Stage 3 CelebA-HD fix, built the forensic web app, and ran a fully honest re-evaluation.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1338560" y="3108960"/>
            <a:ext cx="0" cy="548640"/>
          </a:xfrm>
          <a:prstGeom prst="line">
            <a:avLst/>
          </a:prstGeom>
          <a:noFill/>
          <a:ln w="12700">
            <a:solidFill>
              <a:srgbClr val="C9C9C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5 —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on a strictly held-out test set — Accuracy, Precision, Recall, F1, ROC-AUC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10241280" cy="0"/>
          </a:xfrm>
          <a:prstGeom prst="line">
            <a:avLst/>
          </a:prstGeom>
          <a:noFill/>
          <a:ln w="12700">
            <a:solidFill>
              <a:srgbClr val="EDE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40864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26771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document the root cause of the shortcut-learning misclassification issue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34440" y="2862072"/>
            <a:ext cx="10241280" cy="0"/>
          </a:xfrm>
          <a:prstGeom prst="line">
            <a:avLst/>
          </a:prstGeom>
          <a:noFill/>
          <a:ln w="12700">
            <a:solidFill>
              <a:srgbClr val="EDE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62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88950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preprocessing consistency between the training notebook and the deployed UI backend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34440" y="3483864"/>
            <a:ext cx="10241280" cy="0"/>
          </a:xfrm>
          <a:prstGeom prst="line">
            <a:avLst/>
          </a:prstGeom>
          <a:noFill/>
          <a:ln w="12700">
            <a:solidFill>
              <a:srgbClr val="EDE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844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5112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robustness under real-world image manipulations — tints, JPEG, blur, noise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34440" y="4105656"/>
            <a:ext cx="10241280" cy="0"/>
          </a:xfrm>
          <a:prstGeom prst="line">
            <a:avLst/>
          </a:prstGeom>
          <a:noFill/>
          <a:ln w="12700">
            <a:solidFill>
              <a:srgbClr val="EDED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1330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explainability via Grad-CAM, confirming the model attends to facial regions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34440" y="4727448"/>
            <a:ext cx="10241280" cy="0"/>
          </a:xfrm>
          <a:prstGeom prst="line">
            <a:avLst/>
          </a:prstGeom>
          <a:noFill/>
          <a:ln w="12700">
            <a:solidFill>
              <a:srgbClr val="EDE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280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754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deployment readiness — latency, model size, and quantization potential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234440" y="5349240"/>
            <a:ext cx="10241280" cy="0"/>
          </a:xfrm>
          <a:prstGeom prst="line">
            <a:avLst/>
          </a:prstGeom>
          <a:noFill/>
          <a:ln w="12700">
            <a:solidFill>
              <a:srgbClr val="EDE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449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37667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all findings into a viva-ready report and presentation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Evaluation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85416"/>
            <a:ext cx="219456" cy="21945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FFHQ (real)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295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available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752344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971800"/>
            <a:ext cx="219456" cy="21945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825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(fake)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081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9,001 available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758184"/>
            <a:ext cx="219456" cy="21945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CelebA-HD (real, Stage 3 only)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added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3708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to 15,000 Real + 9,001 Fake = 24,001 images total, then split 80:10:10 (stratified, SEED=42).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07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965960"/>
          <a:ext cx="5577840" cy="1737360"/>
        </p:xfrm>
        <a:graphic>
          <a:graphicData uri="http://schemas.openxmlformats.org/drawingml/2006/table">
            <a:tbl>
              <a:tblPr/>
              <a:tblGrid>
                <a:gridCol w="1394460"/>
                <a:gridCol w="1394460"/>
                <a:gridCol w="1394460"/>
                <a:gridCol w="13944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(held-out)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080760" y="3886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Real:Fake ratio (~62.5:37.5) preserved identically across all three splits.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80760" y="44348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BE9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0936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CelebA-HD?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09360" y="4892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M4's faculty review flagged real, modern smartphone photos being misclassified as fake. 8,000 CelebA-HD real photos were added in Stage 3 specifically to correct this.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SECTION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&amp; Pipeline — MobileNetV3-Large</a:t>
            </a:r>
            <a:endParaRPr lang="en-US" sz="3000" dirty="0"/>
          </a:p>
        </p:txBody>
      </p:sp>
      <p:pic>
        <p:nvPicPr>
          <p:cNvPr id="4" name="Image 0" descr="C:/Users/Vishakha.Roy/Downloads/Deepfake/Group-11-DS-and-AI-Lab-Project/images/mobilenetv3_pipeline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94" y="1463040"/>
            <a:ext cx="8962964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Three-Stage Transfer Learning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8288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2356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5236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 only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2356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· LR 3e-4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10996" y="3794760"/>
            <a:ext cx="2286000" cy="0"/>
          </a:xfrm>
          <a:prstGeom prst="line">
            <a:avLst/>
          </a:prstGeom>
          <a:noFill/>
          <a:ln w="9525">
            <a:solidFill>
              <a:srgbClr val="1E2761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2356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val. 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4018788" y="3172968"/>
            <a:ext cx="292608" cy="237744"/>
          </a:xfrm>
          <a:prstGeom prst="triangle">
            <a:avLst/>
          </a:prstGeom>
          <a:solidFill>
            <a:srgbClr val="5A5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836" y="18288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8FB3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02836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5716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last 25%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 12-16 of 17)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02836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epochs · LR 1e-5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51476" y="3794760"/>
            <a:ext cx="22860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2836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02836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val. accuracy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859268" y="3172968"/>
            <a:ext cx="292608" cy="237744"/>
          </a:xfrm>
          <a:prstGeom prst="triangle">
            <a:avLst/>
          </a:prstGeom>
          <a:solidFill>
            <a:srgbClr val="5A5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3316" y="18288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3316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26196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unfreeze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CelebA-HD real photos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43316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· LR 5e-6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91956" y="3794760"/>
            <a:ext cx="22860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3316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99.71%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43316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val. accuracy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targets the modern-smartphone-photo shortcut-learning failure identified in Milestone 5.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Selection &amp; Justification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438912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594360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for this checkpoint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99.63% (held-out)  vs.  8.6% (Real-Latest OOD)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false alarms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 Real (held-out)  vs.  91.4% false-positive rate (OOD)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missed fakes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 Fake — weak point is false alarms, not missed fakes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Imbalanced-class trade-off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0.9970 / Fake 0.9950 / Macro 0.9960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Threshold-independent 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computed on real test set (notebook gap) — 0.5856 on local sample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Eval.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 to unseen distributions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(Real-Old)  vs.  8.6% (Real-Latest) — central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Performance — Held-Out Test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0644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050" dirty="0"/>
          </a:p>
        </p:txBody>
      </p:sp>
      <p:pic>
        <p:nvPicPr>
          <p:cNvPr id="16" name="Image 0" descr="C:/Users/Vishakha.Roy/Downloads/Deepfake/Group-11-DS-and-AI-Lab-Project/doc/Milestone-5/images/confusion_matrix_best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200400"/>
            <a:ext cx="3224112" cy="32461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029200" y="3200400"/>
            <a:ext cx="6126480" cy="3246120"/>
          </a:xfrm>
          <a:prstGeom prst="roundRect">
            <a:avLst>
              <a:gd name="adj" fmla="val 225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5780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2,401-image test set — only 9 errors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57800" y="384048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images misclassified as Fake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Fake image misclassified as Real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Precision 0.9993 · Recall 0.9947 · F1 0.9970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Precision 0.9912 · Recall 0.9989 · F1 0.9950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TESTING IS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Multi-Model Testing — The Web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samples from Test_real_vs_Fake/ — no upload needed, runs automatically against all 3 loaded checkpoints (best, noaug, manipulations).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(ground truth)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5257800" cy="1645920"/>
        </p:xfrm>
        <a:graphic>
          <a:graphicData uri="http://schemas.openxmlformats.org/drawingml/2006/table">
            <a:tbl>
              <a:tblPr/>
              <a:tblGrid>
                <a:gridCol w="1314450"/>
                <a:gridCol w="1314450"/>
                <a:gridCol w="1314450"/>
                <a:gridCol w="131445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920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(ground truth)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5257800" cy="1645920"/>
        </p:xfrm>
        <a:graphic>
          <a:graphicData uri="http://schemas.openxmlformats.org/drawingml/2006/table">
            <a:tbl>
              <a:tblPr/>
              <a:tblGrid>
                <a:gridCol w="1314450"/>
                <a:gridCol w="1314450"/>
                <a:gridCol w="1314450"/>
                <a:gridCol w="131445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4434840"/>
            <a:ext cx="11155680" cy="1691640"/>
          </a:xfrm>
          <a:prstGeom prst="roundRect">
            <a:avLst>
              <a:gd name="adj" fmla="val 432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77240" y="45902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live check shows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49377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agree correctly on the Fake sample — high confidence (99.6%+) across the board.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sample, noaug is the only model that gets it wrong (misclassifies it as Fake, 80.54% confidence) — visible, direct evidence of the class-bias finding used to select best as the primary model over noaug elsewhere in this report.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runs live against the actual deployed checkpoints, not a static offline script — the same numbers anyone testing the web app today would see.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</a:t>
            </a:r>
            <a:endParaRPr lang="en-US" sz="3000" dirty="0"/>
          </a:p>
        </p:txBody>
      </p:sp>
      <p:pic>
        <p:nvPicPr>
          <p:cNvPr id="4" name="Image 0" descr="C:/Users/Vishakha.Roy/Downloads/Deepfake/Group-11-DS-and-AI-Lab-Project/doc/Milestone-5/images/local_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381244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91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= 0.5856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37960" y="2423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slightly better than random guessing (0.5).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37490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ROC-AUC indicates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43434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0.5856 means the model can barely rank a Fake image above a Real image on this sample — its confidence scores carry little discriminative signal here.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perfect separation, 0.5 = random guessing — 0.5856 sits close to the random-guess line, visible in the curve tracking near the diagonal.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62.0% accuracy on this same sample (Section 4.5) — this is the same domain-shift effect, reflected in the ranking metric, not just the raw accuracy number.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Precision-Recall Curve</a:t>
            </a:r>
            <a:endParaRPr lang="en-US" sz="3000" dirty="0"/>
          </a:p>
        </p:txBody>
      </p:sp>
      <p:pic>
        <p:nvPicPr>
          <p:cNvPr id="4" name="Image 0" descr="C:/Users/Vishakha.Roy/Downloads/Deepfake/Group-11-DS-and-AI-Lab-Project/doc/Milestone-5/images/local_p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381244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91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= 0.6612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37960" y="2423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 on the same local supplementary sample.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37490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still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4343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accuracy on this same sample (Section 4.5) does not contradict the real 99.63% held-out result — it is independent confirmation of the exact domain-shift problem documented in Section 5, using a completely different image set.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Error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E8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Real-Old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FFHQ-distribution images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73 images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3538728"/>
            <a:ext cx="4663440" cy="0"/>
          </a:xfrm>
          <a:prstGeom prst="line">
            <a:avLst/>
          </a:prstGeom>
          <a:noFill/>
          <a:ln w="9525">
            <a:solidFill>
              <a:srgbClr val="2C5F2D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657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P(Real):  </a:t>
            </a:r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0.99997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recognized every FFHQ-like image — resembles training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BE9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Real-Latest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1993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smartphone photos (2025-26)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70 images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3538728"/>
            <a:ext cx="4663440" cy="0"/>
          </a:xfrm>
          <a:prstGeom prst="line">
            <a:avLst/>
          </a:prstGeom>
          <a:noFill/>
          <a:ln w="9525">
            <a:solidFill>
              <a:srgbClr val="990011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657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P(Real):  </a:t>
            </a:r>
            <a:pPr indent="0" marL="0">
              <a:buNone/>
            </a:pPr>
            <a:r>
              <a:rPr lang="en-US" sz="1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0.00060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high-confidence misclassifications, not uncertain borderline calls.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835640" cy="1481328"/>
          </a:xfrm>
          <a:prstGeom prst="roundRect">
            <a:avLst>
              <a:gd name="adj" fmla="val 493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001768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what "Real-Latest = 8.6%" means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285232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70 genuine, real, recent (2025–26) smartphone photographs tested, the model correctly identified only 6 of them as Real (8.6%) — it incorrectly flagged the other 64 as Fake (91.4%), despite every one of those 70 images actually being real people's genuine photos. Contrast with Real-Old (FFHQ-style images resembling training data), where it got 100% right. Same model, same checkpoint — only the photo's capture era/device differs. That gap is the central evidence for the shortcut-learning problem this milestone documents.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— Shortcut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dataset-specific characteristics rather than intrinsic facial authenticity cues — a classic case of domain shift causing shortcut learning.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155680" cy="2743200"/>
        </p:xfrm>
        <a:graphic>
          <a:graphicData uri="http://schemas.openxmlformats.org/drawingml/2006/table">
            <a:tbl>
              <a:tblPr/>
              <a:tblGrid>
                <a:gridCol w="667512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Shortcut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FFHQ-style colour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 as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HDR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 as Fake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sharpening / computational photography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false positives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colour saturation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false positives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device image statistics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Misclassified as AI-generated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FFHQ-like images, dropping to </a:t>
            </a:r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recent real photographs — even though both datasets contain genuine human faces.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Grad-CAM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 — true Fake</a:t>
            </a:r>
            <a:endParaRPr lang="en-US" sz="1200" dirty="0"/>
          </a:p>
        </p:txBody>
      </p:sp>
      <p:pic>
        <p:nvPicPr>
          <p:cNvPr id="5" name="Image 0" descr="C:/Users/Vishakha.Roy/Downloads/Deepfake/Group-11-DS-and-AI-Lab-Project/doc/Milestone-5/images/somendu_gradcam_correct_f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34924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490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concentrates on the eye/nose region — the model attends to facial structure, consistent with genuine synthesis artifacts.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0936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— true Real, predicted Fake</a:t>
            </a:r>
            <a:endParaRPr lang="en-US" sz="1200" dirty="0"/>
          </a:p>
        </p:txBody>
      </p:sp>
      <p:pic>
        <p:nvPicPr>
          <p:cNvPr id="8" name="Image 1" descr="C:/Users/Vishakha.Roy/Downloads/Deepfake/Group-11-DS-and-AI-Lab-Project/doc/Milestone-5/images/somendu_gradcam_failure_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349240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37490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photo misclassified as Fake — consistent with the model reacting to modern camera post-processing rather than real forgery evidence.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4709160"/>
            <a:ext cx="11155680" cy="1600200"/>
          </a:xfrm>
          <a:prstGeom prst="roundRect">
            <a:avLst>
              <a:gd name="adj" fmla="val 457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486460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Grad-CAM heatmap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5193792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Brighter (red/yellow) regions contributed more to the predicted class — it visualizes where the model looked, not why in words.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both a correct case and a failure case, not just successes — a useful explainability check has to show where the model goes wrong too.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concentrate on facial structure (eyes, nose, mouth), evidence against pure background/edge shortcuts. The failure case's heatmap pattern is consistent with the model reacting to image-level properties (sharpening, HDR) rather than real forgery evidence — direct visual support for the Section 5.4 root-cause finding.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6 &amp;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&amp; Out-of-Distribution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Stress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corruptions: tints, brightness, contrast, blur, JPEG, resize, crop, noise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E8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724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True-Real sample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9992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"Real" correctly across all 11 manipulations — genuine robustness.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FBE9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True-Fake sample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3708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incorrectly "Real" across all 11 — the model can be stably wrong. Robustness is not correctness.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Out-of-Distribution: Non-Face Images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real, license-clean CV test images — objects, animals, textures, landscapes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26060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715768"/>
            <a:ext cx="15544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29400" y="3258007"/>
            <a:ext cx="137160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26060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0" y="2715768"/>
            <a:ext cx="15544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75320" y="3258007"/>
            <a:ext cx="137160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Fake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829800" y="26060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29800" y="2715768"/>
            <a:ext cx="15544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921240" y="3258007"/>
            <a:ext cx="137160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confidence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38404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"I don't know" option — softmax always forces a confident decision. Close to a coin flip with no discernible pattern by content type. Any Real/Fake prediction on a non-face image is meaningless, not just low-confidence.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Readiness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16.24 MB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on disk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15.53 ms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latency (measured)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64.4 /s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0644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throughput (measured)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801368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332.6 MB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2428646"/>
            <a:ext cx="228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RAM (measured)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5394960" cy="3337560"/>
          </a:xfrm>
          <a:prstGeom prst="roundRect">
            <a:avLst>
              <a:gd name="adj" fmla="val 219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not the bottleneck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~140x gap between the raw forward pass (15.53 ms) and a full Grad-CAM-enabled request (~2.2 s). The overhead is Grad-CAM rendering, not classification.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latency (est., not measured):  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~7-8 ms
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VRAM (est., not measured):  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hundreds of MB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5532120" cy="3337560"/>
          </a:xfrm>
          <a:prstGeom prst="roundRect">
            <a:avLst>
              <a:gd name="adj" fmla="val 2192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potential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70332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FP16: ~22.6 MB, negligible accuracy loss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INT8: ~11-12 MB, well-suited to edge/mobile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Pruning/distillation: poor fit — already compact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alone won't fix latency — Grad-CAM is the real bottleneck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8 &amp;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99.63% in-distribution accuracy was never the problem — generalization was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/ 62.0% accuracy on real photos, confirmed by two independent probes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identified: HDR, sharpening, saturation — not forgery signals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not the model, is the deployment latency bottleneck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forensic report generation now built into the web app (/report)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532120" cy="4251960"/>
          </a:xfrm>
          <a:prstGeom prst="roundRect">
            <a:avLst>
              <a:gd name="adj" fmla="val 1720"/>
            </a:avLst>
          </a:prstGeom>
          <a:solidFill>
            <a:srgbClr val="EAF1F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the decision threshold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Grad-CAM optional for latency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proper demographic-fairness audit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39319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HDR/sharpening augmentation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Hard-negative mining on Real-Latest failures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cross-domain model training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 ·  FACE AUTHENTICITY DETECTION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Deep Learning-Based Human Face Authenticity Detection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Vishakha  ·  Rohit  ·  Aman  ·  Raunak  ·  Somendu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2026-08-06T13:16:29Z</dcterms:created>
  <dcterms:modified xsi:type="dcterms:W3CDTF">2026-08-06T13:16:29Z</dcterms:modified>
</cp:coreProperties>
</file>